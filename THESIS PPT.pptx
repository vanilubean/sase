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65" r:id="rId12"/>
    <p:sldId id="271" r:id="rId13"/>
    <p:sldId id="272" r:id="rId14"/>
    <p:sldId id="273" r:id="rId15"/>
    <p:sldId id="274" r:id="rId16"/>
    <p:sldId id="275" r:id="rId17"/>
    <p:sldId id="266" r:id="rId18"/>
    <p:sldId id="267" r:id="rId19"/>
    <p:sldId id="276" r:id="rId20"/>
    <p:sldId id="277" r:id="rId21"/>
    <p:sldId id="278" r:id="rId22"/>
    <p:sldId id="279" r:id="rId23"/>
    <p:sldId id="280" r:id="rId24"/>
    <p:sldId id="281" r:id="rId25"/>
    <p:sldId id="282" r:id="rId26"/>
    <p:sldId id="283" r:id="rId27"/>
    <p:sldId id="284" r:id="rId28"/>
    <p:sldId id="268" r:id="rId29"/>
    <p:sldId id="285" r:id="rId30"/>
    <p:sldId id="286" r:id="rId31"/>
    <p:sldId id="287" r:id="rId32"/>
    <p:sldId id="288" r:id="rId33"/>
    <p:sldId id="269" r:id="rId34"/>
  </p:sldIdLst>
  <p:sldSz cx="18288000" cy="10287000"/>
  <p:notesSz cx="6858000" cy="9144000"/>
  <p:embeddedFontLst>
    <p:embeddedFont>
      <p:font typeface="Rosario" panose="02000503040000020003" pitchFamily="2" charset="0"/>
      <p:regular r:id="rId35"/>
    </p:embeddedFont>
    <p:embeddedFont>
      <p:font typeface="Rosario Bold" panose="02000503060000020004" pitchFamily="2"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presProps" Target="presProps.xml" /><Relationship Id="rId40"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font" Target="fonts/font2.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font" Target="fonts/font1.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4.svg"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3.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8.svg" /></Relationships>
</file>

<file path=ppt/slides/_rels/slide4.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5.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6.xml.rels><?xml version="1.0" encoding="UTF-8" standalone="yes"?>
<Relationships xmlns="http://schemas.openxmlformats.org/package/2006/relationships"><Relationship Id="rId3" Type="http://schemas.openxmlformats.org/officeDocument/2006/relationships/image" Target="../media/image6.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3.svg" /></Relationships>
</file>

<file path=ppt/slides/_rels/slide7.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8.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9.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1.jpeg" /><Relationship Id="rId5" Type="http://schemas.openxmlformats.org/officeDocument/2006/relationships/image" Target="../media/image10.svg" /><Relationship Id="rId4" Type="http://schemas.openxmlformats.org/officeDocument/2006/relationships/image" Target="../media/image6.svg" /></Relationships>
</file>

<file path=ppt/slides/_rels/slide10.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11.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2.jpeg" /><Relationship Id="rId5" Type="http://schemas.openxmlformats.org/officeDocument/2006/relationships/image" Target="../media/image7.svg" /><Relationship Id="rId4" Type="http://schemas.openxmlformats.org/officeDocument/2006/relationships/image" Target="../media/image6.svg" /></Relationships>
</file>

<file path=ppt/slides/_rels/slide1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3.jpeg" /><Relationship Id="rId5" Type="http://schemas.openxmlformats.org/officeDocument/2006/relationships/image" Target="../media/image7.svg" /><Relationship Id="rId4" Type="http://schemas.openxmlformats.org/officeDocument/2006/relationships/image" Target="../media/image6.svg" /></Relationships>
</file>

<file path=ppt/slides/_rels/slide13.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4.jpeg" /><Relationship Id="rId5" Type="http://schemas.openxmlformats.org/officeDocument/2006/relationships/image" Target="../media/image7.svg" /><Relationship Id="rId4" Type="http://schemas.openxmlformats.org/officeDocument/2006/relationships/image" Target="../media/image6.svg" /></Relationships>
</file>

<file path=ppt/slides/_rels/slide14.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5.jpeg" /><Relationship Id="rId5" Type="http://schemas.openxmlformats.org/officeDocument/2006/relationships/image" Target="../media/image7.svg" /><Relationship Id="rId4" Type="http://schemas.openxmlformats.org/officeDocument/2006/relationships/image" Target="../media/image6.svg" /></Relationships>
</file>

<file path=ppt/slides/_rels/slide15.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6.png" /><Relationship Id="rId5" Type="http://schemas.openxmlformats.org/officeDocument/2006/relationships/image" Target="../media/image7.svg" /><Relationship Id="rId4" Type="http://schemas.openxmlformats.org/officeDocument/2006/relationships/image" Target="../media/image6.svg" /></Relationships>
</file>

<file path=ppt/slides/_rels/slide16.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17.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8.svg" /></Relationships>
</file>

<file path=ppt/slides/_rels/slide18.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17.jpeg" /><Relationship Id="rId4" Type="http://schemas.openxmlformats.org/officeDocument/2006/relationships/image" Target="../media/image3.svg" /></Relationships>
</file>

<file path=ppt/slides/_rels/slide19.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8.jpeg" /><Relationship Id="rId5" Type="http://schemas.openxmlformats.org/officeDocument/2006/relationships/image" Target="../media/image17.jpeg" /><Relationship Id="rId4" Type="http://schemas.openxmlformats.org/officeDocument/2006/relationships/image" Target="../media/image3.svg" /></Relationships>
</file>

<file path=ppt/slides/_rels/slide20.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9.jpeg" /><Relationship Id="rId5" Type="http://schemas.openxmlformats.org/officeDocument/2006/relationships/image" Target="../media/image17.jpeg" /><Relationship Id="rId4" Type="http://schemas.openxmlformats.org/officeDocument/2006/relationships/image" Target="../media/image3.svg" /></Relationships>
</file>

<file path=ppt/slides/_rels/slide21.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0.jpeg" /><Relationship Id="rId5" Type="http://schemas.openxmlformats.org/officeDocument/2006/relationships/image" Target="../media/image17.jpeg" /><Relationship Id="rId4" Type="http://schemas.openxmlformats.org/officeDocument/2006/relationships/image" Target="../media/image3.svg" /></Relationships>
</file>

<file path=ppt/slides/_rels/slide22.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1.jpeg" /><Relationship Id="rId5" Type="http://schemas.openxmlformats.org/officeDocument/2006/relationships/image" Target="../media/image17.jpeg" /><Relationship Id="rId4" Type="http://schemas.openxmlformats.org/officeDocument/2006/relationships/image" Target="../media/image3.svg" /></Relationships>
</file>

<file path=ppt/slides/_rels/slide23.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2.jpeg" /><Relationship Id="rId5" Type="http://schemas.openxmlformats.org/officeDocument/2006/relationships/image" Target="../media/image17.jpeg" /><Relationship Id="rId4" Type="http://schemas.openxmlformats.org/officeDocument/2006/relationships/image" Target="../media/image3.svg" /></Relationships>
</file>

<file path=ppt/slides/_rels/slide24.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3.jpeg" /><Relationship Id="rId5" Type="http://schemas.openxmlformats.org/officeDocument/2006/relationships/image" Target="../media/image17.jpeg" /><Relationship Id="rId4" Type="http://schemas.openxmlformats.org/officeDocument/2006/relationships/image" Target="../media/image3.svg" /></Relationships>
</file>

<file path=ppt/slides/_rels/slide25.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4.jpeg" /><Relationship Id="rId5" Type="http://schemas.openxmlformats.org/officeDocument/2006/relationships/image" Target="../media/image17.jpeg" /><Relationship Id="rId4" Type="http://schemas.openxmlformats.org/officeDocument/2006/relationships/image" Target="../media/image3.svg" /></Relationships>
</file>

<file path=ppt/slides/_rels/slide26.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5.jpeg" /><Relationship Id="rId5" Type="http://schemas.openxmlformats.org/officeDocument/2006/relationships/image" Target="../media/image17.jpeg" /><Relationship Id="rId4" Type="http://schemas.openxmlformats.org/officeDocument/2006/relationships/image" Target="../media/image3.svg" /></Relationships>
</file>

<file path=ppt/slides/_rels/slide27.xml.rels><?xml version="1.0" encoding="UTF-8" standalone="yes"?>
<Relationships xmlns="http://schemas.openxmlformats.org/package/2006/relationships"><Relationship Id="rId3" Type="http://schemas.openxmlformats.org/officeDocument/2006/relationships/image" Target="../media/image10.sv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6.jpeg" /><Relationship Id="rId5" Type="http://schemas.openxmlformats.org/officeDocument/2006/relationships/image" Target="../media/image17.jpeg" /><Relationship Id="rId4" Type="http://schemas.openxmlformats.org/officeDocument/2006/relationships/image" Target="../media/image3.svg" /></Relationships>
</file>

<file path=ppt/slides/_rels/slide28.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29.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7.svg" /><Relationship Id="rId4" Type="http://schemas.openxmlformats.org/officeDocument/2006/relationships/image" Target="../media/image6.svg" /></Relationships>
</file>

<file path=ppt/slides/_rels/slide30.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31.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32.xml.rels><?xml version="1.0" encoding="UTF-8" standalone="yes"?>
<Relationships xmlns="http://schemas.openxmlformats.org/package/2006/relationships"><Relationship Id="rId3" Type="http://schemas.openxmlformats.org/officeDocument/2006/relationships/image" Target="../media/image9.svg" /><Relationship Id="rId2" Type="http://schemas.openxmlformats.org/officeDocument/2006/relationships/image" Target="../media/image1.jpeg" /><Relationship Id="rId1" Type="http://schemas.openxmlformats.org/officeDocument/2006/relationships/slideLayout" Target="../slideLayouts/slideLayout7.xml" /><Relationship Id="rId4" Type="http://schemas.openxmlformats.org/officeDocument/2006/relationships/image" Target="../media/image7.svg" /></Relationships>
</file>

<file path=ppt/slides/_rels/slide33.xml.rels><?xml version="1.0" encoding="UTF-8" standalone="yes"?>
<Relationships xmlns="http://schemas.openxmlformats.org/package/2006/relationships"><Relationship Id="rId3" Type="http://schemas.openxmlformats.org/officeDocument/2006/relationships/image" Target="../media/image8.svg" /><Relationship Id="rId2" Type="http://schemas.openxmlformats.org/officeDocument/2006/relationships/image" Target="../media/image1.jpeg" /><Relationship Id="rId1" Type="http://schemas.openxmlformats.org/officeDocument/2006/relationships/slideLayout" Target="../slideLayouts/slideLayout7.xml" /><Relationship Id="rId5" Type="http://schemas.openxmlformats.org/officeDocument/2006/relationships/image" Target="../media/image27.svg" /><Relationship Id="rId4" Type="http://schemas.openxmlformats.org/officeDocument/2006/relationships/image" Target="../media/image3.sv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2348942" y="0"/>
            <a:ext cx="6755285" cy="4102300"/>
          </a:xfrm>
          <a:custGeom>
            <a:avLst/>
            <a:gdLst/>
            <a:ahLst/>
            <a:cxnLst/>
            <a:rect l="l" t="t" r="r" b="b"/>
            <a:pathLst>
              <a:path w="6755285" h="4102300">
                <a:moveTo>
                  <a:pt x="0" y="0"/>
                </a:moveTo>
                <a:lnTo>
                  <a:pt x="6755284" y="0"/>
                </a:lnTo>
                <a:lnTo>
                  <a:pt x="6755284" y="4102300"/>
                </a:lnTo>
                <a:lnTo>
                  <a:pt x="0" y="41023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039269" y="6184700"/>
            <a:ext cx="6755285" cy="4102300"/>
          </a:xfrm>
          <a:custGeom>
            <a:avLst/>
            <a:gdLst/>
            <a:ahLst/>
            <a:cxnLst/>
            <a:rect l="l" t="t" r="r" b="b"/>
            <a:pathLst>
              <a:path w="6755285" h="4102300">
                <a:moveTo>
                  <a:pt x="6755285" y="4102300"/>
                </a:moveTo>
                <a:lnTo>
                  <a:pt x="0" y="4102300"/>
                </a:lnTo>
                <a:lnTo>
                  <a:pt x="0" y="0"/>
                </a:lnTo>
                <a:lnTo>
                  <a:pt x="6755285" y="0"/>
                </a:lnTo>
                <a:lnTo>
                  <a:pt x="6755285" y="41023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0" y="1167898"/>
            <a:ext cx="1987801" cy="3975602"/>
          </a:xfrm>
          <a:custGeom>
            <a:avLst/>
            <a:gdLst/>
            <a:ahLst/>
            <a:cxnLst/>
            <a:rect l="l" t="t" r="r" b="b"/>
            <a:pathLst>
              <a:path w="1987801" h="3975602">
                <a:moveTo>
                  <a:pt x="1987801" y="0"/>
                </a:moveTo>
                <a:lnTo>
                  <a:pt x="0" y="0"/>
                </a:lnTo>
                <a:lnTo>
                  <a:pt x="0" y="3975602"/>
                </a:lnTo>
                <a:lnTo>
                  <a:pt x="1987801" y="3975602"/>
                </a:lnTo>
                <a:lnTo>
                  <a:pt x="1987801"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265400" y="5143500"/>
            <a:ext cx="1987801" cy="3975602"/>
          </a:xfrm>
          <a:custGeom>
            <a:avLst/>
            <a:gdLst/>
            <a:ahLst/>
            <a:cxnLst/>
            <a:rect l="l" t="t" r="r" b="b"/>
            <a:pathLst>
              <a:path w="1987801" h="3975602">
                <a:moveTo>
                  <a:pt x="0" y="0"/>
                </a:moveTo>
                <a:lnTo>
                  <a:pt x="1987800" y="0"/>
                </a:lnTo>
                <a:lnTo>
                  <a:pt x="1987800" y="3975602"/>
                </a:lnTo>
                <a:lnTo>
                  <a:pt x="0" y="397560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406342" y="6148468"/>
            <a:ext cx="9639128" cy="1805146"/>
          </a:xfrm>
          <a:custGeom>
            <a:avLst/>
            <a:gdLst/>
            <a:ahLst/>
            <a:cxnLst/>
            <a:rect l="l" t="t" r="r" b="b"/>
            <a:pathLst>
              <a:path w="9639128" h="1805146">
                <a:moveTo>
                  <a:pt x="0" y="0"/>
                </a:moveTo>
                <a:lnTo>
                  <a:pt x="9639128" y="0"/>
                </a:lnTo>
                <a:lnTo>
                  <a:pt x="9639128" y="1805146"/>
                </a:lnTo>
                <a:lnTo>
                  <a:pt x="0" y="180514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248838" y="3479264"/>
            <a:ext cx="15790323" cy="2422525"/>
          </a:xfrm>
          <a:prstGeom prst="rect">
            <a:avLst/>
          </a:prstGeom>
        </p:spPr>
        <p:txBody>
          <a:bodyPr lIns="0" tIns="0" rIns="0" bIns="0" rtlCol="0" anchor="t">
            <a:spAutoFit/>
          </a:bodyPr>
          <a:lstStyle/>
          <a:p>
            <a:pPr algn="ctr">
              <a:lnSpc>
                <a:spcPts val="9799"/>
              </a:lnSpc>
              <a:spcBef>
                <a:spcPct val="0"/>
              </a:spcBef>
            </a:pPr>
            <a:r>
              <a:rPr lang="en-US" sz="6999" b="1">
                <a:solidFill>
                  <a:srgbClr val="272139"/>
                </a:solidFill>
                <a:latin typeface="Rosario Bold"/>
                <a:ea typeface="Rosario Bold"/>
                <a:cs typeface="Rosario Bold"/>
                <a:sym typeface="Rosario Bold"/>
              </a:rPr>
              <a:t>MACHINE LEARNING-BASED SASE PERFORMANCE PREDICTION SYSTEM</a:t>
            </a:r>
          </a:p>
        </p:txBody>
      </p:sp>
      <p:sp>
        <p:nvSpPr>
          <p:cNvPr id="9" name="TextBox 9"/>
          <p:cNvSpPr txBox="1"/>
          <p:nvPr/>
        </p:nvSpPr>
        <p:spPr>
          <a:xfrm>
            <a:off x="2969962" y="6204213"/>
            <a:ext cx="12348075" cy="1749401"/>
          </a:xfrm>
          <a:prstGeom prst="rect">
            <a:avLst/>
          </a:prstGeom>
        </p:spPr>
        <p:txBody>
          <a:bodyPr lIns="0" tIns="0" rIns="0" bIns="0" rtlCol="0" anchor="t">
            <a:spAutoFit/>
          </a:bodyPr>
          <a:lstStyle/>
          <a:p>
            <a:pPr algn="ctr">
              <a:lnSpc>
                <a:spcPts val="7000"/>
              </a:lnSpc>
            </a:pPr>
            <a:r>
              <a:rPr lang="en-US" sz="5000" b="1">
                <a:solidFill>
                  <a:srgbClr val="272139"/>
                </a:solidFill>
                <a:latin typeface="Rosario Bold"/>
                <a:ea typeface="Rosario Bold"/>
                <a:cs typeface="Rosario Bold"/>
                <a:sym typeface="Rosario Bold"/>
              </a:rPr>
              <a:t>By:</a:t>
            </a:r>
            <a:r>
              <a:rPr lang="en-US" sz="5000">
                <a:solidFill>
                  <a:srgbClr val="272139"/>
                </a:solidFill>
                <a:latin typeface="Rosario"/>
                <a:ea typeface="Rosario"/>
                <a:cs typeface="Rosario"/>
                <a:sym typeface="Rosario"/>
              </a:rPr>
              <a:t> Jerica Grace Estose &amp;</a:t>
            </a:r>
          </a:p>
          <a:p>
            <a:pPr algn="ctr">
              <a:lnSpc>
                <a:spcPts val="7000"/>
              </a:lnSpc>
              <a:spcBef>
                <a:spcPct val="0"/>
              </a:spcBef>
            </a:pPr>
            <a:r>
              <a:rPr lang="en-US" sz="5000">
                <a:solidFill>
                  <a:srgbClr val="272139"/>
                </a:solidFill>
                <a:latin typeface="Rosario"/>
                <a:ea typeface="Rosario"/>
                <a:cs typeface="Rosario"/>
                <a:sym typeface="Rosario"/>
              </a:rPr>
              <a:t>Humaida Ampaso</a:t>
            </a:r>
          </a:p>
        </p:txBody>
      </p:sp>
      <p:sp>
        <p:nvSpPr>
          <p:cNvPr id="10" name="TextBox 10"/>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flipV="1">
            <a:off x="-369691" y="-530258"/>
            <a:ext cx="2796783" cy="2806991"/>
          </a:xfrm>
          <a:custGeom>
            <a:avLst/>
            <a:gdLst/>
            <a:ahLst/>
            <a:cxnLst/>
            <a:rect l="l" t="t" r="r" b="b"/>
            <a:pathLst>
              <a:path w="2796783" h="2806991">
                <a:moveTo>
                  <a:pt x="0" y="2806991"/>
                </a:moveTo>
                <a:lnTo>
                  <a:pt x="2796784" y="2806991"/>
                </a:lnTo>
                <a:lnTo>
                  <a:pt x="2796784" y="0"/>
                </a:lnTo>
                <a:lnTo>
                  <a:pt x="0" y="0"/>
                </a:lnTo>
                <a:lnTo>
                  <a:pt x="0" y="280699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860908" y="7986753"/>
            <a:ext cx="2796783" cy="2806991"/>
          </a:xfrm>
          <a:custGeom>
            <a:avLst/>
            <a:gdLst/>
            <a:ahLst/>
            <a:cxnLst/>
            <a:rect l="l" t="t" r="r" b="b"/>
            <a:pathLst>
              <a:path w="2796783" h="2806991">
                <a:moveTo>
                  <a:pt x="2796784" y="0"/>
                </a:moveTo>
                <a:lnTo>
                  <a:pt x="0" y="0"/>
                </a:lnTo>
                <a:lnTo>
                  <a:pt x="0" y="2806991"/>
                </a:lnTo>
                <a:lnTo>
                  <a:pt x="2796784" y="2806991"/>
                </a:lnTo>
                <a:lnTo>
                  <a:pt x="279678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92152" y="-530258"/>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88149" y="8789531"/>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592152" y="8789531"/>
            <a:ext cx="2982688" cy="885704"/>
          </a:xfrm>
          <a:custGeom>
            <a:avLst/>
            <a:gdLst/>
            <a:ahLst/>
            <a:cxnLst/>
            <a:rect l="l" t="t" r="r" b="b"/>
            <a:pathLst>
              <a:path w="2982688" h="885704">
                <a:moveTo>
                  <a:pt x="0" y="0"/>
                </a:moveTo>
                <a:lnTo>
                  <a:pt x="2982688" y="0"/>
                </a:lnTo>
                <a:lnTo>
                  <a:pt x="2982688" y="885705"/>
                </a:lnTo>
                <a:lnTo>
                  <a:pt x="0" y="8857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1403615" y="3661694"/>
            <a:ext cx="15480769" cy="2787697"/>
          </a:xfrm>
          <a:prstGeom prst="rect">
            <a:avLst/>
          </a:prstGeom>
        </p:spPr>
        <p:txBody>
          <a:bodyPr lIns="0" tIns="0" rIns="0" bIns="0" rtlCol="0" anchor="t">
            <a:spAutoFit/>
          </a:bodyPr>
          <a:lstStyle/>
          <a:p>
            <a:pPr algn="ctr">
              <a:lnSpc>
                <a:spcPts val="11200"/>
              </a:lnSpc>
            </a:pPr>
            <a:r>
              <a:rPr lang="en-US" sz="8000" b="1">
                <a:solidFill>
                  <a:srgbClr val="272139"/>
                </a:solidFill>
                <a:latin typeface="Rosario Bold"/>
                <a:ea typeface="Rosario Bold"/>
                <a:cs typeface="Rosario Bold"/>
                <a:sym typeface="Rosario Bold"/>
              </a:rPr>
              <a:t>CHAPTER 1:</a:t>
            </a:r>
          </a:p>
          <a:p>
            <a:pPr algn="ctr">
              <a:lnSpc>
                <a:spcPts val="11200"/>
              </a:lnSpc>
              <a:spcBef>
                <a:spcPct val="0"/>
              </a:spcBef>
            </a:pPr>
            <a:r>
              <a:rPr lang="en-US" sz="8000" b="1">
                <a:solidFill>
                  <a:srgbClr val="272139"/>
                </a:solidFill>
                <a:latin typeface="Rosario Bold"/>
                <a:ea typeface="Rosario Bold"/>
                <a:cs typeface="Rosario Bold"/>
                <a:sym typeface="Rosario Bold"/>
              </a:rPr>
              <a:t>THE PROBLEM AND IT'S SETTINGS</a:t>
            </a:r>
          </a:p>
        </p:txBody>
      </p:sp>
      <p:sp>
        <p:nvSpPr>
          <p:cNvPr id="17" name="TextBox 10">
            <a:extLst>
              <a:ext uri="{FF2B5EF4-FFF2-40B4-BE49-F238E27FC236}">
                <a16:creationId xmlns:a16="http://schemas.microsoft.com/office/drawing/2014/main" id="{4C8963EE-5DAA-7132-820F-41996AF30D24}"/>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494773" y="7997964"/>
            <a:ext cx="2796783" cy="2806991"/>
          </a:xfrm>
          <a:custGeom>
            <a:avLst/>
            <a:gdLst/>
            <a:ahLst/>
            <a:cxnLst/>
            <a:rect l="l" t="t" r="r" b="b"/>
            <a:pathLst>
              <a:path w="2796783" h="2806991">
                <a:moveTo>
                  <a:pt x="0" y="0"/>
                </a:moveTo>
                <a:lnTo>
                  <a:pt x="2796784" y="0"/>
                </a:lnTo>
                <a:lnTo>
                  <a:pt x="2796784" y="2806991"/>
                </a:lnTo>
                <a:lnTo>
                  <a:pt x="0" y="28069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741730" y="8191362"/>
            <a:ext cx="2406993" cy="2420194"/>
          </a:xfrm>
          <a:custGeom>
            <a:avLst/>
            <a:gdLst/>
            <a:ahLst/>
            <a:cxnLst/>
            <a:rect l="l" t="t" r="r" b="b"/>
            <a:pathLst>
              <a:path w="2406993" h="2420194">
                <a:moveTo>
                  <a:pt x="2406993" y="0"/>
                </a:moveTo>
                <a:lnTo>
                  <a:pt x="0" y="0"/>
                </a:lnTo>
                <a:lnTo>
                  <a:pt x="0" y="2420195"/>
                </a:lnTo>
                <a:lnTo>
                  <a:pt x="2406993" y="2420195"/>
                </a:lnTo>
                <a:lnTo>
                  <a:pt x="2406993"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0800000">
            <a:off x="17062924" y="1005102"/>
            <a:ext cx="2796783" cy="2806991"/>
          </a:xfrm>
          <a:custGeom>
            <a:avLst/>
            <a:gdLst/>
            <a:ahLst/>
            <a:cxnLst/>
            <a:rect l="l" t="t" r="r" b="b"/>
            <a:pathLst>
              <a:path w="2796783" h="2806991">
                <a:moveTo>
                  <a:pt x="0" y="0"/>
                </a:moveTo>
                <a:lnTo>
                  <a:pt x="2796784" y="0"/>
                </a:lnTo>
                <a:lnTo>
                  <a:pt x="2796784" y="2806991"/>
                </a:lnTo>
                <a:lnTo>
                  <a:pt x="0" y="280699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225076" y="990487"/>
            <a:ext cx="7511143" cy="1315938"/>
          </a:xfrm>
          <a:prstGeom prst="rect">
            <a:avLst/>
          </a:prstGeom>
        </p:spPr>
        <p:txBody>
          <a:bodyPr wrap="square" lIns="0" tIns="0" rIns="0" bIns="0" rtlCol="0" anchor="t">
            <a:spAutoFit/>
          </a:bodyPr>
          <a:lstStyle/>
          <a:p>
            <a:pPr algn="ctr">
              <a:lnSpc>
                <a:spcPts val="11200"/>
              </a:lnSpc>
              <a:spcBef>
                <a:spcPct val="0"/>
              </a:spcBef>
            </a:pPr>
            <a:r>
              <a:rPr lang="en-US" sz="8000" b="1">
                <a:solidFill>
                  <a:srgbClr val="272139"/>
                </a:solidFill>
                <a:latin typeface="Rosario Bold"/>
                <a:ea typeface="Rosario Bold"/>
                <a:cs typeface="Rosario Bold"/>
                <a:sym typeface="Rosario Bold"/>
              </a:rPr>
              <a:t>INTRODUCTION</a:t>
            </a:r>
          </a:p>
        </p:txBody>
      </p:sp>
      <p:sp>
        <p:nvSpPr>
          <p:cNvPr id="8" name="TextBox 8"/>
          <p:cNvSpPr txBox="1"/>
          <p:nvPr/>
        </p:nvSpPr>
        <p:spPr>
          <a:xfrm>
            <a:off x="1225076" y="2541008"/>
            <a:ext cx="15837848" cy="7281857"/>
          </a:xfrm>
          <a:prstGeom prst="rect">
            <a:avLst/>
          </a:prstGeom>
        </p:spPr>
        <p:txBody>
          <a:bodyPr lIns="0" tIns="0" rIns="0" bIns="0" rtlCol="0" anchor="t">
            <a:spAutoFit/>
          </a:bodyPr>
          <a:lstStyle/>
          <a:p>
            <a:pPr algn="just">
              <a:lnSpc>
                <a:spcPts val="4480"/>
              </a:lnSpc>
            </a:pPr>
            <a:r>
              <a:rPr lang="en-US" sz="3200">
                <a:solidFill>
                  <a:srgbClr val="272139"/>
                </a:solidFill>
                <a:latin typeface="Rosario"/>
                <a:ea typeface="Rosario"/>
                <a:cs typeface="Rosario"/>
                <a:sym typeface="Rosario"/>
              </a:rPr>
              <a:t>College entrance exams greatly influence students’ educational opportunities and future careers.</a:t>
            </a:r>
          </a:p>
          <a:p>
            <a:pPr algn="just">
              <a:lnSpc>
                <a:spcPts val="4480"/>
              </a:lnSpc>
            </a:pPr>
            <a:r>
              <a:rPr lang="en-US" sz="3200">
                <a:solidFill>
                  <a:srgbClr val="272139"/>
                </a:solidFill>
                <a:latin typeface="Rosario"/>
                <a:ea typeface="Rosario"/>
                <a:cs typeface="Rosario"/>
                <a:sym typeface="Rosario"/>
              </a:rPr>
              <a:t>Many countries use standardized exams such as the Gaokao (China), SAT/ACT (USA), and CSAT (South Korea).</a:t>
            </a:r>
          </a:p>
          <a:p>
            <a:pPr algn="just">
              <a:lnSpc>
                <a:spcPts val="4480"/>
              </a:lnSpc>
            </a:pPr>
            <a:r>
              <a:rPr lang="en-US" sz="3200">
                <a:solidFill>
                  <a:srgbClr val="272139"/>
                </a:solidFill>
                <a:latin typeface="Rosario"/>
                <a:ea typeface="Rosario"/>
                <a:cs typeface="Rosario"/>
                <a:sym typeface="Rosario"/>
              </a:rPr>
              <a:t>In the Philippines, the MSU System uses the System Admission and Scholarship Examination (MSU-SASE) for student admission and scholarship qualification.</a:t>
            </a:r>
          </a:p>
          <a:p>
            <a:pPr algn="just">
              <a:lnSpc>
                <a:spcPts val="4480"/>
              </a:lnSpc>
            </a:pPr>
            <a:r>
              <a:rPr lang="en-US" sz="3200">
                <a:solidFill>
                  <a:srgbClr val="272139"/>
                </a:solidFill>
                <a:latin typeface="Rosario"/>
                <a:ea typeface="Rosario"/>
                <a:cs typeface="Rosario"/>
                <a:sym typeface="Rosario"/>
              </a:rPr>
              <a:t>Mock exams and review programs help improve students’ performance, but not all students have access to these resources.</a:t>
            </a:r>
          </a:p>
          <a:p>
            <a:pPr algn="just">
              <a:lnSpc>
                <a:spcPts val="4480"/>
              </a:lnSpc>
            </a:pPr>
            <a:r>
              <a:rPr lang="en-US" sz="3200">
                <a:solidFill>
                  <a:srgbClr val="272139"/>
                </a:solidFill>
                <a:latin typeface="Rosario"/>
                <a:ea typeface="Rosario"/>
                <a:cs typeface="Rosario"/>
                <a:sym typeface="Rosario"/>
              </a:rPr>
              <a:t>With the advancement of technology, Artificial Intelligence (AI) and Machine Learning (ML) can help analyze student data and predict academic performance.</a:t>
            </a:r>
          </a:p>
          <a:p>
            <a:pPr algn="just">
              <a:lnSpc>
                <a:spcPts val="4480"/>
              </a:lnSpc>
            </a:pPr>
            <a:r>
              <a:rPr lang="en-US" sz="3200">
                <a:solidFill>
                  <a:srgbClr val="272139"/>
                </a:solidFill>
                <a:latin typeface="Rosario"/>
                <a:ea typeface="Rosario"/>
                <a:cs typeface="Rosario"/>
                <a:sym typeface="Rosario"/>
              </a:rPr>
              <a:t>This study, titled “Machine Learning-Based SASE Performance Prediction System,” aims to predict students’ possible SASE scores using their Grade 11–12 academic performance in Mathematics, Science, Language, and Aptitude-related subjects.</a:t>
            </a:r>
          </a:p>
        </p:txBody>
      </p:sp>
      <p:sp>
        <p:nvSpPr>
          <p:cNvPr id="10" name="TextBox 10">
            <a:extLst>
              <a:ext uri="{FF2B5EF4-FFF2-40B4-BE49-F238E27FC236}">
                <a16:creationId xmlns:a16="http://schemas.microsoft.com/office/drawing/2014/main" id="{BB12F9C3-2C46-6D30-3562-B00731258E2A}"/>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5269498" y="7531938"/>
            <a:ext cx="3018502" cy="3085829"/>
          </a:xfrm>
          <a:custGeom>
            <a:avLst/>
            <a:gdLst/>
            <a:ahLst/>
            <a:cxnLst/>
            <a:rect l="l" t="t" r="r" b="b"/>
            <a:pathLst>
              <a:path w="3018502" h="3085829">
                <a:moveTo>
                  <a:pt x="3018502" y="0"/>
                </a:moveTo>
                <a:lnTo>
                  <a:pt x="0" y="0"/>
                </a:lnTo>
                <a:lnTo>
                  <a:pt x="0" y="3085829"/>
                </a:lnTo>
                <a:lnTo>
                  <a:pt x="3018502" y="3085829"/>
                </a:lnTo>
                <a:lnTo>
                  <a:pt x="3018502"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2245862" y="1690171"/>
            <a:ext cx="13796275" cy="1368448"/>
          </a:xfrm>
          <a:prstGeom prst="rect">
            <a:avLst/>
          </a:prstGeom>
        </p:spPr>
        <p:txBody>
          <a:bodyPr lIns="0" tIns="0" rIns="0" bIns="0" rtlCol="0" anchor="t">
            <a:spAutoFit/>
          </a:bodyPr>
          <a:lstStyle/>
          <a:p>
            <a:pPr algn="ctr">
              <a:lnSpc>
                <a:spcPts val="11200"/>
              </a:lnSpc>
              <a:spcBef>
                <a:spcPct val="0"/>
              </a:spcBef>
            </a:pPr>
            <a:r>
              <a:rPr lang="en-US" sz="8000" b="1">
                <a:solidFill>
                  <a:srgbClr val="272139"/>
                </a:solidFill>
                <a:latin typeface="Rosario Bold"/>
                <a:ea typeface="Rosario Bold"/>
                <a:cs typeface="Rosario Bold"/>
                <a:sym typeface="Rosario Bold"/>
              </a:rPr>
              <a:t>STATEMENT OF THE PROBLEM</a:t>
            </a:r>
          </a:p>
        </p:txBody>
      </p:sp>
      <p:sp>
        <p:nvSpPr>
          <p:cNvPr id="8" name="TextBox 8"/>
          <p:cNvSpPr txBox="1"/>
          <p:nvPr/>
        </p:nvSpPr>
        <p:spPr>
          <a:xfrm>
            <a:off x="2499354" y="3556448"/>
            <a:ext cx="13289291" cy="4471862"/>
          </a:xfrm>
          <a:prstGeom prst="rect">
            <a:avLst/>
          </a:prstGeom>
        </p:spPr>
        <p:txBody>
          <a:bodyPr lIns="0" tIns="0" rIns="0" bIns="0" rtlCol="0" anchor="t">
            <a:spAutoFit/>
          </a:bodyPr>
          <a:lstStyle/>
          <a:p>
            <a:pPr marL="690881" lvl="1" indent="-345440" algn="l">
              <a:lnSpc>
                <a:spcPts val="4480"/>
              </a:lnSpc>
              <a:buAutoNum type="arabicPeriod"/>
            </a:pPr>
            <a:r>
              <a:rPr lang="en-US" sz="3200">
                <a:solidFill>
                  <a:srgbClr val="272139"/>
                </a:solidFill>
                <a:latin typeface="Rosario"/>
                <a:ea typeface="Rosario"/>
                <a:cs typeface="Rosario"/>
                <a:sym typeface="Rosario"/>
              </a:rPr>
              <a:t>The lack of clear evidence on the relationship between students' performance in high school subjects - Mathematics, Science, Language, and Aptitude and their SASE scores makes it difficult to determine which subjects significantly influence exam performance</a:t>
            </a:r>
          </a:p>
          <a:p>
            <a:pPr marL="690881" lvl="1" indent="-345440" algn="l">
              <a:lnSpc>
                <a:spcPts val="4480"/>
              </a:lnSpc>
              <a:buAutoNum type="arabicPeriod"/>
            </a:pPr>
            <a:r>
              <a:rPr lang="en-US" sz="3200">
                <a:solidFill>
                  <a:srgbClr val="272139"/>
                </a:solidFill>
                <a:latin typeface="Rosario"/>
                <a:ea typeface="Rosario"/>
                <a:cs typeface="Rosario"/>
                <a:sym typeface="Rosario"/>
              </a:rPr>
              <a:t>Current methods do not utilize students’ high school academic records in Mathematics, Science, Language, and Aptitude to predict SASE scores, which limits the early assessment of applicants’ potential performance and the provision of data-driven academic guidance.</a:t>
            </a:r>
          </a:p>
        </p:txBody>
      </p:sp>
      <p:sp>
        <p:nvSpPr>
          <p:cNvPr id="10" name="TextBox 10">
            <a:extLst>
              <a:ext uri="{FF2B5EF4-FFF2-40B4-BE49-F238E27FC236}">
                <a16:creationId xmlns:a16="http://schemas.microsoft.com/office/drawing/2014/main" id="{58F4725B-BAC4-36AF-724F-98145526C007}"/>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5269498" y="7531938"/>
            <a:ext cx="3018502" cy="3085829"/>
          </a:xfrm>
          <a:custGeom>
            <a:avLst/>
            <a:gdLst/>
            <a:ahLst/>
            <a:cxnLst/>
            <a:rect l="l" t="t" r="r" b="b"/>
            <a:pathLst>
              <a:path w="3018502" h="3085829">
                <a:moveTo>
                  <a:pt x="3018502" y="0"/>
                </a:moveTo>
                <a:lnTo>
                  <a:pt x="0" y="0"/>
                </a:lnTo>
                <a:lnTo>
                  <a:pt x="0" y="3085829"/>
                </a:lnTo>
                <a:lnTo>
                  <a:pt x="3018502" y="3085829"/>
                </a:lnTo>
                <a:lnTo>
                  <a:pt x="3018502"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2962642" y="1690171"/>
            <a:ext cx="12362715" cy="1368448"/>
          </a:xfrm>
          <a:prstGeom prst="rect">
            <a:avLst/>
          </a:prstGeom>
        </p:spPr>
        <p:txBody>
          <a:bodyPr lIns="0" tIns="0" rIns="0" bIns="0" rtlCol="0" anchor="t">
            <a:spAutoFit/>
          </a:bodyPr>
          <a:lstStyle/>
          <a:p>
            <a:pPr algn="ctr">
              <a:lnSpc>
                <a:spcPts val="11200"/>
              </a:lnSpc>
              <a:spcBef>
                <a:spcPct val="0"/>
              </a:spcBef>
            </a:pPr>
            <a:r>
              <a:rPr lang="en-US" sz="8000" b="1">
                <a:solidFill>
                  <a:srgbClr val="272139"/>
                </a:solidFill>
                <a:latin typeface="Rosario Bold"/>
                <a:ea typeface="Rosario Bold"/>
                <a:cs typeface="Rosario Bold"/>
                <a:sym typeface="Rosario Bold"/>
              </a:rPr>
              <a:t>OBJECTIVES OF THE STUDY</a:t>
            </a:r>
          </a:p>
        </p:txBody>
      </p:sp>
      <p:sp>
        <p:nvSpPr>
          <p:cNvPr id="8" name="TextBox 8"/>
          <p:cNvSpPr txBox="1"/>
          <p:nvPr/>
        </p:nvSpPr>
        <p:spPr>
          <a:xfrm>
            <a:off x="2499354" y="3556448"/>
            <a:ext cx="13289291" cy="3909863"/>
          </a:xfrm>
          <a:prstGeom prst="rect">
            <a:avLst/>
          </a:prstGeom>
        </p:spPr>
        <p:txBody>
          <a:bodyPr lIns="0" tIns="0" rIns="0" bIns="0" rtlCol="0" anchor="t">
            <a:spAutoFit/>
          </a:bodyPr>
          <a:lstStyle/>
          <a:p>
            <a:pPr marL="690881" lvl="1" indent="-345440" algn="l">
              <a:lnSpc>
                <a:spcPts val="4480"/>
              </a:lnSpc>
              <a:buAutoNum type="arabicPeriod"/>
            </a:pPr>
            <a:r>
              <a:rPr lang="en-US" sz="3200">
                <a:solidFill>
                  <a:srgbClr val="272139"/>
                </a:solidFill>
                <a:latin typeface="Rosario"/>
                <a:ea typeface="Rosario"/>
                <a:cs typeface="Rosario"/>
                <a:sym typeface="Rosario"/>
              </a:rPr>
              <a:t>Analyze the relationship between students’ performance in high school subjects aligned with the SASE areas of Mathematics, Science, Language, and Aptitude and their SASE scores.</a:t>
            </a:r>
          </a:p>
          <a:p>
            <a:pPr marL="690881" lvl="1" indent="-345440" algn="l">
              <a:lnSpc>
                <a:spcPts val="4480"/>
              </a:lnSpc>
              <a:buAutoNum type="arabicPeriod"/>
            </a:pPr>
            <a:r>
              <a:rPr lang="en-US" sz="3200">
                <a:solidFill>
                  <a:srgbClr val="272139"/>
                </a:solidFill>
                <a:latin typeface="Rosario"/>
                <a:ea typeface="Rosario"/>
                <a:cs typeface="Rosario"/>
                <a:sym typeface="Rosario"/>
              </a:rPr>
              <a:t>This study aims to design and implement a machine learning–based predictive system that uses students’ high school academic records in Mathematics, Science, Language, and Aptitude to estimate SASE scores for early performance assessment and data-driven academic guidance.</a:t>
            </a:r>
          </a:p>
        </p:txBody>
      </p:sp>
      <p:sp>
        <p:nvSpPr>
          <p:cNvPr id="10" name="TextBox 10">
            <a:extLst>
              <a:ext uri="{FF2B5EF4-FFF2-40B4-BE49-F238E27FC236}">
                <a16:creationId xmlns:a16="http://schemas.microsoft.com/office/drawing/2014/main" id="{BD236267-0833-63B2-E9B1-265628596CC6}"/>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4" name="Freeform 4"/>
          <p:cNvSpPr/>
          <p:nvPr/>
        </p:nvSpPr>
        <p:spPr>
          <a:xfrm>
            <a:off x="17259300"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0" y="7362156"/>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975513"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462644" y="57671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843619" y="1157091"/>
            <a:ext cx="13234162" cy="2787697"/>
          </a:xfrm>
          <a:prstGeom prst="rect">
            <a:avLst/>
          </a:prstGeom>
        </p:spPr>
        <p:txBody>
          <a:bodyPr lIns="0" tIns="0" rIns="0" bIns="0" rtlCol="0" anchor="t">
            <a:spAutoFit/>
          </a:bodyPr>
          <a:lstStyle/>
          <a:p>
            <a:pPr algn="ctr">
              <a:lnSpc>
                <a:spcPts val="11200"/>
              </a:lnSpc>
              <a:spcBef>
                <a:spcPct val="0"/>
              </a:spcBef>
            </a:pPr>
            <a:r>
              <a:rPr lang="en-US" sz="8000" b="1">
                <a:solidFill>
                  <a:srgbClr val="272139"/>
                </a:solidFill>
                <a:latin typeface="Rosario Bold"/>
                <a:ea typeface="Rosario Bold"/>
                <a:cs typeface="Rosario Bold"/>
                <a:sym typeface="Rosario Bold"/>
              </a:rPr>
              <a:t>SCOPE AND LIMITATIONS OF THE STUDY:</a:t>
            </a:r>
          </a:p>
        </p:txBody>
      </p:sp>
      <p:sp>
        <p:nvSpPr>
          <p:cNvPr id="10" name="TextBox 10"/>
          <p:cNvSpPr txBox="1"/>
          <p:nvPr/>
        </p:nvSpPr>
        <p:spPr>
          <a:xfrm>
            <a:off x="2843619" y="3390435"/>
            <a:ext cx="1713765" cy="712458"/>
          </a:xfrm>
          <a:prstGeom prst="rect">
            <a:avLst/>
          </a:prstGeom>
        </p:spPr>
        <p:txBody>
          <a:bodyPr lIns="0" tIns="0" rIns="0" bIns="0" rtlCol="0" anchor="t">
            <a:spAutoFit/>
          </a:bodyPr>
          <a:lstStyle/>
          <a:p>
            <a:pPr algn="l">
              <a:lnSpc>
                <a:spcPts val="5880"/>
              </a:lnSpc>
              <a:spcBef>
                <a:spcPct val="0"/>
              </a:spcBef>
            </a:pPr>
            <a:r>
              <a:rPr lang="en-US" sz="4200">
                <a:solidFill>
                  <a:srgbClr val="51608D"/>
                </a:solidFill>
                <a:latin typeface="Rosario"/>
                <a:ea typeface="Rosario"/>
                <a:cs typeface="Rosario"/>
                <a:sym typeface="Rosario"/>
              </a:rPr>
              <a:t>Scope</a:t>
            </a:r>
          </a:p>
        </p:txBody>
      </p:sp>
      <p:sp>
        <p:nvSpPr>
          <p:cNvPr id="11" name="TextBox 11"/>
          <p:cNvSpPr txBox="1"/>
          <p:nvPr/>
        </p:nvSpPr>
        <p:spPr>
          <a:xfrm>
            <a:off x="2843619" y="4667291"/>
            <a:ext cx="12600762" cy="5033861"/>
          </a:xfrm>
          <a:prstGeom prst="rect">
            <a:avLst/>
          </a:prstGeom>
        </p:spPr>
        <p:txBody>
          <a:bodyPr lIns="0" tIns="0" rIns="0" bIns="0" rtlCol="0" anchor="t">
            <a:spAutoFit/>
          </a:bodyPr>
          <a:lstStyle/>
          <a:p>
            <a:pPr algn="just">
              <a:lnSpc>
                <a:spcPts val="4480"/>
              </a:lnSpc>
              <a:spcBef>
                <a:spcPct val="0"/>
              </a:spcBef>
            </a:pPr>
            <a:r>
              <a:rPr lang="en-US" sz="3200">
                <a:solidFill>
                  <a:srgbClr val="272139"/>
                </a:solidFill>
                <a:latin typeface="Rosario"/>
                <a:ea typeface="Rosario"/>
                <a:cs typeface="Rosario"/>
                <a:sym typeface="Rosario"/>
              </a:rPr>
              <a:t>This study focuses on the development of a web-based machine learning system that predicts students’ possible performance in the MSU-SASE. The system uses Grade 11 and Grade 12 academic records in Mathematics, Science, Language, and Aptitude-related subjects as input data. Historical academic records and SASE results from MSU-MCEST applicants during School Year 2023–2024 are used for training, testing, and validating the predictive model. The application is designed to help students, especially those without access to review programs, estimate their potential SASE performance.</a:t>
            </a:r>
          </a:p>
        </p:txBody>
      </p:sp>
      <p:sp>
        <p:nvSpPr>
          <p:cNvPr id="13" name="TextBox 10">
            <a:extLst>
              <a:ext uri="{FF2B5EF4-FFF2-40B4-BE49-F238E27FC236}">
                <a16:creationId xmlns:a16="http://schemas.microsoft.com/office/drawing/2014/main" id="{460F7EC6-19C7-B9A2-AB7D-CF03F3E0A9A5}"/>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
        <p:nvSpPr>
          <p:cNvPr id="17" name="Freeform 3">
            <a:extLst>
              <a:ext uri="{FF2B5EF4-FFF2-40B4-BE49-F238E27FC236}">
                <a16:creationId xmlns:a16="http://schemas.microsoft.com/office/drawing/2014/main" id="{1BA75E72-4F31-4A77-3D62-31C7B582B2F1}"/>
              </a:ext>
            </a:extLst>
          </p:cNvPr>
          <p:cNvSpPr/>
          <p:nvPr/>
        </p:nvSpPr>
        <p:spPr>
          <a:xfrm>
            <a:off x="16833689" y="2004213"/>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16865707" y="2004213"/>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7362156"/>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57671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2812002" y="907514"/>
            <a:ext cx="13234162" cy="2787697"/>
          </a:xfrm>
          <a:prstGeom prst="rect">
            <a:avLst/>
          </a:prstGeom>
        </p:spPr>
        <p:txBody>
          <a:bodyPr lIns="0" tIns="0" rIns="0" bIns="0" rtlCol="0" anchor="t">
            <a:spAutoFit/>
          </a:bodyPr>
          <a:lstStyle/>
          <a:p>
            <a:pPr algn="ctr">
              <a:lnSpc>
                <a:spcPts val="11200"/>
              </a:lnSpc>
              <a:spcBef>
                <a:spcPct val="0"/>
              </a:spcBef>
            </a:pPr>
            <a:r>
              <a:rPr lang="en-US" sz="8000" b="1">
                <a:solidFill>
                  <a:srgbClr val="272139"/>
                </a:solidFill>
                <a:latin typeface="Rosario Bold"/>
                <a:ea typeface="Rosario Bold"/>
                <a:cs typeface="Rosario Bold"/>
                <a:sym typeface="Rosario Bold"/>
              </a:rPr>
              <a:t>SCOPE AND LIMITATIONS OF THE STUDY:</a:t>
            </a:r>
          </a:p>
        </p:txBody>
      </p:sp>
      <p:sp>
        <p:nvSpPr>
          <p:cNvPr id="10" name="TextBox 10"/>
          <p:cNvSpPr txBox="1"/>
          <p:nvPr/>
        </p:nvSpPr>
        <p:spPr>
          <a:xfrm>
            <a:off x="2843619" y="3390435"/>
            <a:ext cx="2543386" cy="712458"/>
          </a:xfrm>
          <a:prstGeom prst="rect">
            <a:avLst/>
          </a:prstGeom>
        </p:spPr>
        <p:txBody>
          <a:bodyPr lIns="0" tIns="0" rIns="0" bIns="0" rtlCol="0" anchor="t">
            <a:spAutoFit/>
          </a:bodyPr>
          <a:lstStyle/>
          <a:p>
            <a:pPr algn="l">
              <a:lnSpc>
                <a:spcPts val="5880"/>
              </a:lnSpc>
              <a:spcBef>
                <a:spcPct val="0"/>
              </a:spcBef>
            </a:pPr>
            <a:r>
              <a:rPr lang="en-US" sz="4200">
                <a:solidFill>
                  <a:srgbClr val="51608D"/>
                </a:solidFill>
                <a:latin typeface="Rosario"/>
                <a:ea typeface="Rosario"/>
                <a:cs typeface="Rosario"/>
                <a:sym typeface="Rosario"/>
              </a:rPr>
              <a:t>Limitation</a:t>
            </a:r>
          </a:p>
        </p:txBody>
      </p:sp>
      <p:sp>
        <p:nvSpPr>
          <p:cNvPr id="11" name="TextBox 11"/>
          <p:cNvSpPr txBox="1"/>
          <p:nvPr/>
        </p:nvSpPr>
        <p:spPr>
          <a:xfrm>
            <a:off x="2843619" y="4667291"/>
            <a:ext cx="12600762" cy="5033861"/>
          </a:xfrm>
          <a:prstGeom prst="rect">
            <a:avLst/>
          </a:prstGeom>
        </p:spPr>
        <p:txBody>
          <a:bodyPr lIns="0" tIns="0" rIns="0" bIns="0" rtlCol="0" anchor="t">
            <a:spAutoFit/>
          </a:bodyPr>
          <a:lstStyle/>
          <a:p>
            <a:pPr algn="just">
              <a:lnSpc>
                <a:spcPts val="4480"/>
              </a:lnSpc>
              <a:spcBef>
                <a:spcPct val="0"/>
              </a:spcBef>
            </a:pPr>
            <a:r>
              <a:rPr lang="en-US" sz="3200">
                <a:solidFill>
                  <a:srgbClr val="272139"/>
                </a:solidFill>
                <a:latin typeface="Rosario"/>
                <a:ea typeface="Rosario"/>
                <a:cs typeface="Rosario"/>
                <a:sym typeface="Rosario"/>
              </a:rPr>
              <a:t>The study is limited to Grade 11 and Grade 12 students from MSU-MCEST, which may limit the applicability of the results to other campuses or institutions. Time constraints may also affect the size of the dataset used in the study. Some data are based on self-reported questionnaires, which may lead to biased responses. In addition, external factors such as home environment, mental health, and access to learning resources are not included in the model. The system is intended only for predictive analysis and does not provide academic interventions, recommendations, or long-term monitoring of students’ progress.</a:t>
            </a:r>
          </a:p>
        </p:txBody>
      </p:sp>
      <p:sp>
        <p:nvSpPr>
          <p:cNvPr id="13" name="TextBox 10">
            <a:extLst>
              <a:ext uri="{FF2B5EF4-FFF2-40B4-BE49-F238E27FC236}">
                <a16:creationId xmlns:a16="http://schemas.microsoft.com/office/drawing/2014/main" id="{EE63075B-07F5-139C-EBFA-D0A290692DC4}"/>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V="1">
            <a:off x="-369692" y="-530258"/>
            <a:ext cx="2796783" cy="2806991"/>
          </a:xfrm>
          <a:custGeom>
            <a:avLst/>
            <a:gdLst/>
            <a:ahLst/>
            <a:cxnLst/>
            <a:rect l="l" t="t" r="r" b="b"/>
            <a:pathLst>
              <a:path w="2796783" h="2806991">
                <a:moveTo>
                  <a:pt x="0" y="2806991"/>
                </a:moveTo>
                <a:lnTo>
                  <a:pt x="2796784" y="2806991"/>
                </a:lnTo>
                <a:lnTo>
                  <a:pt x="2796784" y="0"/>
                </a:lnTo>
                <a:lnTo>
                  <a:pt x="0" y="0"/>
                </a:lnTo>
                <a:lnTo>
                  <a:pt x="0" y="280699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860908" y="7986753"/>
            <a:ext cx="2796783" cy="2806991"/>
          </a:xfrm>
          <a:custGeom>
            <a:avLst/>
            <a:gdLst/>
            <a:ahLst/>
            <a:cxnLst/>
            <a:rect l="l" t="t" r="r" b="b"/>
            <a:pathLst>
              <a:path w="2796783" h="2806991">
                <a:moveTo>
                  <a:pt x="2796784" y="0"/>
                </a:moveTo>
                <a:lnTo>
                  <a:pt x="0" y="0"/>
                </a:lnTo>
                <a:lnTo>
                  <a:pt x="0" y="2806991"/>
                </a:lnTo>
                <a:lnTo>
                  <a:pt x="2796784" y="2806991"/>
                </a:lnTo>
                <a:lnTo>
                  <a:pt x="279678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92152" y="-530258"/>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88149" y="8789531"/>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592152" y="8789531"/>
            <a:ext cx="2982688" cy="885704"/>
          </a:xfrm>
          <a:custGeom>
            <a:avLst/>
            <a:gdLst/>
            <a:ahLst/>
            <a:cxnLst/>
            <a:rect l="l" t="t" r="r" b="b"/>
            <a:pathLst>
              <a:path w="2982688" h="885704">
                <a:moveTo>
                  <a:pt x="0" y="0"/>
                </a:moveTo>
                <a:lnTo>
                  <a:pt x="2982688" y="0"/>
                </a:lnTo>
                <a:lnTo>
                  <a:pt x="2982688" y="885705"/>
                </a:lnTo>
                <a:lnTo>
                  <a:pt x="0" y="8857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0" y="2963827"/>
            <a:ext cx="18288000" cy="4206946"/>
          </a:xfrm>
          <a:prstGeom prst="rect">
            <a:avLst/>
          </a:prstGeom>
        </p:spPr>
        <p:txBody>
          <a:bodyPr lIns="0" tIns="0" rIns="0" bIns="0" rtlCol="0" anchor="t">
            <a:spAutoFit/>
          </a:bodyPr>
          <a:lstStyle/>
          <a:p>
            <a:pPr algn="ctr">
              <a:lnSpc>
                <a:spcPts val="11200"/>
              </a:lnSpc>
            </a:pPr>
            <a:r>
              <a:rPr lang="en-US" sz="8000" b="1">
                <a:solidFill>
                  <a:srgbClr val="272139"/>
                </a:solidFill>
                <a:latin typeface="Rosario Bold"/>
                <a:ea typeface="Rosario Bold"/>
                <a:cs typeface="Rosario Bold"/>
                <a:sym typeface="Rosario Bold"/>
              </a:rPr>
              <a:t>CHAPTER 2:</a:t>
            </a:r>
          </a:p>
          <a:p>
            <a:pPr algn="ctr">
              <a:lnSpc>
                <a:spcPts val="11200"/>
              </a:lnSpc>
              <a:spcBef>
                <a:spcPct val="0"/>
              </a:spcBef>
            </a:pPr>
            <a:r>
              <a:rPr lang="en-US" sz="8000" b="1">
                <a:solidFill>
                  <a:srgbClr val="272139"/>
                </a:solidFill>
                <a:latin typeface="Rosario Bold"/>
                <a:ea typeface="Rosario Bold"/>
                <a:cs typeface="Rosario Bold"/>
                <a:sym typeface="Rosario Bold"/>
              </a:rPr>
              <a:t>REVIEW OF RELATED LITERATURE AND STUDIES</a:t>
            </a:r>
          </a:p>
        </p:txBody>
      </p:sp>
      <p:sp>
        <p:nvSpPr>
          <p:cNvPr id="11" name="TextBox 10">
            <a:extLst>
              <a:ext uri="{FF2B5EF4-FFF2-40B4-BE49-F238E27FC236}">
                <a16:creationId xmlns:a16="http://schemas.microsoft.com/office/drawing/2014/main" id="{A2E653D8-E255-1B9C-2CA3-F7AD89A4D578}"/>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7362156"/>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2086356" y="3909604"/>
            <a:ext cx="4098257" cy="2467791"/>
          </a:xfrm>
          <a:prstGeom prst="rect">
            <a:avLst/>
          </a:prstGeom>
        </p:spPr>
        <p:txBody>
          <a:bodyPr wrap="square" lIns="0" tIns="0" rIns="0" bIns="0" rtlCol="0" anchor="t">
            <a:spAutoFit/>
          </a:bodyPr>
          <a:lstStyle/>
          <a:p>
            <a:pPr algn="ctr">
              <a:lnSpc>
                <a:spcPts val="6580"/>
              </a:lnSpc>
              <a:spcBef>
                <a:spcPct val="0"/>
              </a:spcBef>
            </a:pPr>
            <a:r>
              <a:rPr lang="en-US" sz="4700" b="1">
                <a:solidFill>
                  <a:srgbClr val="272139"/>
                </a:solidFill>
                <a:latin typeface="Rosario Bold"/>
                <a:ea typeface="Rosario Bold"/>
                <a:cs typeface="Rosario Bold"/>
                <a:sym typeface="Rosario Bold"/>
              </a:rPr>
              <a:t>SUMMARY OF THE RELATED LITERATURE </a:t>
            </a:r>
          </a:p>
        </p:txBody>
      </p:sp>
      <p:sp>
        <p:nvSpPr>
          <p:cNvPr id="14" name="TextBox 10">
            <a:extLst>
              <a:ext uri="{FF2B5EF4-FFF2-40B4-BE49-F238E27FC236}">
                <a16:creationId xmlns:a16="http://schemas.microsoft.com/office/drawing/2014/main" id="{29A5B51F-C7D1-FF2E-46CE-9850D802B734}"/>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11" name="Picture 10">
            <a:extLst>
              <a:ext uri="{FF2B5EF4-FFF2-40B4-BE49-F238E27FC236}">
                <a16:creationId xmlns:a16="http://schemas.microsoft.com/office/drawing/2014/main" id="{C86199EE-4AC6-59FA-A762-50D576266F9B}"/>
              </a:ext>
            </a:extLst>
          </p:cNvPr>
          <p:cNvPicPr>
            <a:picLocks noChangeAspect="1"/>
          </p:cNvPicPr>
          <p:nvPr/>
        </p:nvPicPr>
        <p:blipFill>
          <a:blip r:embed="rId6"/>
          <a:stretch>
            <a:fillRect/>
          </a:stretch>
        </p:blipFill>
        <p:spPr>
          <a:xfrm>
            <a:off x="6513145" y="1390921"/>
            <a:ext cx="9878711" cy="808226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V="1">
            <a:off x="-369692" y="-530258"/>
            <a:ext cx="2796783" cy="2806991"/>
          </a:xfrm>
          <a:custGeom>
            <a:avLst/>
            <a:gdLst/>
            <a:ahLst/>
            <a:cxnLst/>
            <a:rect l="l" t="t" r="r" b="b"/>
            <a:pathLst>
              <a:path w="2796783" h="2806991">
                <a:moveTo>
                  <a:pt x="0" y="2806991"/>
                </a:moveTo>
                <a:lnTo>
                  <a:pt x="2796784" y="2806991"/>
                </a:lnTo>
                <a:lnTo>
                  <a:pt x="2796784" y="0"/>
                </a:lnTo>
                <a:lnTo>
                  <a:pt x="0" y="0"/>
                </a:lnTo>
                <a:lnTo>
                  <a:pt x="0" y="280699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860908" y="7986753"/>
            <a:ext cx="2796783" cy="2806991"/>
          </a:xfrm>
          <a:custGeom>
            <a:avLst/>
            <a:gdLst/>
            <a:ahLst/>
            <a:cxnLst/>
            <a:rect l="l" t="t" r="r" b="b"/>
            <a:pathLst>
              <a:path w="2796783" h="2806991">
                <a:moveTo>
                  <a:pt x="2796784" y="0"/>
                </a:moveTo>
                <a:lnTo>
                  <a:pt x="0" y="0"/>
                </a:lnTo>
                <a:lnTo>
                  <a:pt x="0" y="2806991"/>
                </a:lnTo>
                <a:lnTo>
                  <a:pt x="2796784" y="2806991"/>
                </a:lnTo>
                <a:lnTo>
                  <a:pt x="279678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92152" y="-530258"/>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88149" y="8789531"/>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592152" y="8789531"/>
            <a:ext cx="2982688" cy="885704"/>
          </a:xfrm>
          <a:custGeom>
            <a:avLst/>
            <a:gdLst/>
            <a:ahLst/>
            <a:cxnLst/>
            <a:rect l="l" t="t" r="r" b="b"/>
            <a:pathLst>
              <a:path w="2982688" h="885704">
                <a:moveTo>
                  <a:pt x="0" y="0"/>
                </a:moveTo>
                <a:lnTo>
                  <a:pt x="2982688" y="0"/>
                </a:lnTo>
                <a:lnTo>
                  <a:pt x="2982688" y="885705"/>
                </a:lnTo>
                <a:lnTo>
                  <a:pt x="0" y="8857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0" y="3754427"/>
            <a:ext cx="18288000" cy="2752228"/>
          </a:xfrm>
          <a:prstGeom prst="rect">
            <a:avLst/>
          </a:prstGeom>
        </p:spPr>
        <p:txBody>
          <a:bodyPr lIns="0" tIns="0" rIns="0" bIns="0" rtlCol="0" anchor="t">
            <a:spAutoFit/>
          </a:bodyPr>
          <a:lstStyle/>
          <a:p>
            <a:pPr algn="ctr">
              <a:lnSpc>
                <a:spcPts val="11200"/>
              </a:lnSpc>
            </a:pPr>
            <a:r>
              <a:rPr lang="en-US" sz="8000" b="1" dirty="0">
                <a:solidFill>
                  <a:srgbClr val="272139"/>
                </a:solidFill>
                <a:latin typeface="Rosario Bold"/>
                <a:ea typeface="Rosario Bold"/>
                <a:cs typeface="Rosario Bold"/>
                <a:sym typeface="Rosario Bold"/>
              </a:rPr>
              <a:t>CHAPTER 3:</a:t>
            </a:r>
          </a:p>
          <a:p>
            <a:pPr algn="ctr">
              <a:lnSpc>
                <a:spcPts val="11200"/>
              </a:lnSpc>
              <a:spcBef>
                <a:spcPct val="0"/>
              </a:spcBef>
            </a:pPr>
            <a:r>
              <a:rPr lang="en-US" sz="8000" b="1" dirty="0">
                <a:solidFill>
                  <a:srgbClr val="272139"/>
                </a:solidFill>
                <a:latin typeface="Rosario Bold"/>
                <a:ea typeface="Rosario Bold"/>
                <a:cs typeface="Rosario Bold"/>
                <a:sym typeface="Rosario Bold"/>
              </a:rPr>
              <a:t>RESEARCH METHODOLOGY</a:t>
            </a:r>
          </a:p>
        </p:txBody>
      </p:sp>
      <p:sp>
        <p:nvSpPr>
          <p:cNvPr id="11" name="TextBox 10">
            <a:extLst>
              <a:ext uri="{FF2B5EF4-FFF2-40B4-BE49-F238E27FC236}">
                <a16:creationId xmlns:a16="http://schemas.microsoft.com/office/drawing/2014/main" id="{746F9868-BE0C-8315-991E-7C24C3FED422}"/>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13962453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0"/>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0">
            <a:extLst>
              <a:ext uri="{FF2B5EF4-FFF2-40B4-BE49-F238E27FC236}">
                <a16:creationId xmlns:a16="http://schemas.microsoft.com/office/drawing/2014/main" id="{01E81E43-4778-1ECF-2113-1A6889E7715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16" name="Picture 15">
            <a:extLst>
              <a:ext uri="{FF2B5EF4-FFF2-40B4-BE49-F238E27FC236}">
                <a16:creationId xmlns:a16="http://schemas.microsoft.com/office/drawing/2014/main" id="{78656A60-ED37-BF2C-22C8-34F2BA4070E5}"/>
              </a:ext>
            </a:extLst>
          </p:cNvPr>
          <p:cNvPicPr>
            <a:picLocks noChangeAspect="1"/>
          </p:cNvPicPr>
          <p:nvPr/>
        </p:nvPicPr>
        <p:blipFill>
          <a:blip r:embed="rId6"/>
          <a:stretch>
            <a:fillRect/>
          </a:stretch>
        </p:blipFill>
        <p:spPr>
          <a:xfrm>
            <a:off x="6647257" y="1055185"/>
            <a:ext cx="9383348" cy="9135948"/>
          </a:xfrm>
          <a:prstGeom prst="rect">
            <a:avLst/>
          </a:prstGeom>
        </p:spPr>
      </p:pic>
      <p:sp>
        <p:nvSpPr>
          <p:cNvPr id="18" name="TextBox 10">
            <a:extLst>
              <a:ext uri="{FF2B5EF4-FFF2-40B4-BE49-F238E27FC236}">
                <a16:creationId xmlns:a16="http://schemas.microsoft.com/office/drawing/2014/main" id="{5114BE0D-E60B-0BE1-C501-DB0097BF6094}"/>
              </a:ext>
            </a:extLst>
          </p:cNvPr>
          <p:cNvSpPr txBox="1"/>
          <p:nvPr/>
        </p:nvSpPr>
        <p:spPr>
          <a:xfrm>
            <a:off x="2086356" y="3909604"/>
            <a:ext cx="4098257" cy="1621406"/>
          </a:xfrm>
          <a:prstGeom prst="rect">
            <a:avLst/>
          </a:prstGeom>
        </p:spPr>
        <p:txBody>
          <a:bodyPr wrap="square" lIns="0" tIns="0" rIns="0" bIns="0" rtlCol="0" anchor="t">
            <a:spAutoFit/>
          </a:bodyPr>
          <a:lstStyle/>
          <a:p>
            <a:pPr algn="ctr">
              <a:lnSpc>
                <a:spcPts val="6580"/>
              </a:lnSpc>
              <a:spcBef>
                <a:spcPct val="0"/>
              </a:spcBef>
            </a:pPr>
            <a:r>
              <a:rPr lang="en-US" sz="4700" b="1" dirty="0">
                <a:solidFill>
                  <a:srgbClr val="272139"/>
                </a:solidFill>
                <a:latin typeface="Rosario Bold"/>
                <a:ea typeface="Rosario Bold"/>
                <a:cs typeface="Rosario Bold"/>
                <a:sym typeface="Rosario Bold"/>
              </a:rPr>
              <a:t>Conceptual Framework</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0"/>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0">
            <a:extLst>
              <a:ext uri="{FF2B5EF4-FFF2-40B4-BE49-F238E27FC236}">
                <a16:creationId xmlns:a16="http://schemas.microsoft.com/office/drawing/2014/main" id="{01E81E43-4778-1ECF-2113-1A6889E7715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
        <p:nvSpPr>
          <p:cNvPr id="18" name="TextBox 10">
            <a:extLst>
              <a:ext uri="{FF2B5EF4-FFF2-40B4-BE49-F238E27FC236}">
                <a16:creationId xmlns:a16="http://schemas.microsoft.com/office/drawing/2014/main" id="{5114BE0D-E60B-0BE1-C501-DB0097BF6094}"/>
              </a:ext>
            </a:extLst>
          </p:cNvPr>
          <p:cNvSpPr txBox="1"/>
          <p:nvPr/>
        </p:nvSpPr>
        <p:spPr>
          <a:xfrm>
            <a:off x="1462422" y="3909604"/>
            <a:ext cx="4098257" cy="2467791"/>
          </a:xfrm>
          <a:prstGeom prst="rect">
            <a:avLst/>
          </a:prstGeom>
        </p:spPr>
        <p:txBody>
          <a:bodyPr wrap="square" lIns="0" tIns="0" rIns="0" bIns="0" rtlCol="0" anchor="t">
            <a:spAutoFit/>
          </a:bodyPr>
          <a:lstStyle/>
          <a:p>
            <a:pPr algn="ctr">
              <a:lnSpc>
                <a:spcPts val="6580"/>
              </a:lnSpc>
              <a:spcBef>
                <a:spcPct val="0"/>
              </a:spcBef>
            </a:pPr>
            <a:r>
              <a:rPr lang="en-US" sz="4700" b="1" dirty="0">
                <a:solidFill>
                  <a:srgbClr val="272139"/>
                </a:solidFill>
                <a:latin typeface="Rosario Bold"/>
                <a:ea typeface="Rosario Bold"/>
                <a:cs typeface="Rosario Bold"/>
                <a:sym typeface="Rosario Bold"/>
              </a:rPr>
              <a:t>Model Training Data Flow Diagram</a:t>
            </a:r>
          </a:p>
        </p:txBody>
      </p:sp>
      <p:pic>
        <p:nvPicPr>
          <p:cNvPr id="10" name="Picture 9">
            <a:extLst>
              <a:ext uri="{FF2B5EF4-FFF2-40B4-BE49-F238E27FC236}">
                <a16:creationId xmlns:a16="http://schemas.microsoft.com/office/drawing/2014/main" id="{33668EAC-99AB-397E-C1F8-6C6CB46158F6}"/>
              </a:ext>
            </a:extLst>
          </p:cNvPr>
          <p:cNvPicPr>
            <a:picLocks noChangeAspect="1"/>
          </p:cNvPicPr>
          <p:nvPr/>
        </p:nvPicPr>
        <p:blipFill>
          <a:blip r:embed="rId6"/>
          <a:srcRect l="7060" t="24396" r="8977" b="20557"/>
          <a:stretch>
            <a:fillRect/>
          </a:stretch>
        </p:blipFill>
        <p:spPr>
          <a:xfrm>
            <a:off x="6536192" y="2464528"/>
            <a:ext cx="10171942" cy="5642429"/>
          </a:xfrm>
          <a:prstGeom prst="rect">
            <a:avLst/>
          </a:prstGeom>
        </p:spPr>
      </p:pic>
    </p:spTree>
    <p:extLst>
      <p:ext uri="{BB962C8B-B14F-4D97-AF65-F5344CB8AC3E}">
        <p14:creationId xmlns:p14="http://schemas.microsoft.com/office/powerpoint/2010/main" val="10017671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0"/>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0">
            <a:extLst>
              <a:ext uri="{FF2B5EF4-FFF2-40B4-BE49-F238E27FC236}">
                <a16:creationId xmlns:a16="http://schemas.microsoft.com/office/drawing/2014/main" id="{01E81E43-4778-1ECF-2113-1A6889E7715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
        <p:nvSpPr>
          <p:cNvPr id="18" name="TextBox 10">
            <a:extLst>
              <a:ext uri="{FF2B5EF4-FFF2-40B4-BE49-F238E27FC236}">
                <a16:creationId xmlns:a16="http://schemas.microsoft.com/office/drawing/2014/main" id="{5114BE0D-E60B-0BE1-C501-DB0097BF6094}"/>
              </a:ext>
            </a:extLst>
          </p:cNvPr>
          <p:cNvSpPr txBox="1"/>
          <p:nvPr/>
        </p:nvSpPr>
        <p:spPr>
          <a:xfrm>
            <a:off x="1462422" y="3909604"/>
            <a:ext cx="4098257" cy="2467791"/>
          </a:xfrm>
          <a:prstGeom prst="rect">
            <a:avLst/>
          </a:prstGeom>
        </p:spPr>
        <p:txBody>
          <a:bodyPr wrap="square" lIns="0" tIns="0" rIns="0" bIns="0" rtlCol="0" anchor="t">
            <a:spAutoFit/>
          </a:bodyPr>
          <a:lstStyle/>
          <a:p>
            <a:pPr algn="ctr">
              <a:lnSpc>
                <a:spcPts val="6580"/>
              </a:lnSpc>
              <a:spcBef>
                <a:spcPct val="0"/>
              </a:spcBef>
            </a:pPr>
            <a:r>
              <a:rPr lang="en-US" sz="4700" b="1" dirty="0">
                <a:solidFill>
                  <a:srgbClr val="272139"/>
                </a:solidFill>
                <a:latin typeface="Rosario Bold"/>
                <a:ea typeface="Rosario Bold"/>
                <a:cs typeface="Rosario Bold"/>
                <a:sym typeface="Rosario Bold"/>
              </a:rPr>
              <a:t>Level 0</a:t>
            </a:r>
          </a:p>
          <a:p>
            <a:pPr algn="ctr">
              <a:lnSpc>
                <a:spcPts val="6580"/>
              </a:lnSpc>
              <a:spcBef>
                <a:spcPct val="0"/>
              </a:spcBef>
            </a:pPr>
            <a:r>
              <a:rPr lang="en-US" sz="4700" b="1" dirty="0">
                <a:solidFill>
                  <a:srgbClr val="272139"/>
                </a:solidFill>
                <a:latin typeface="Rosario Bold"/>
                <a:ea typeface="Rosario Bold"/>
                <a:cs typeface="Rosario Bold"/>
                <a:sym typeface="Rosario Bold"/>
              </a:rPr>
              <a:t> Data Flow Diagram</a:t>
            </a:r>
          </a:p>
        </p:txBody>
      </p:sp>
      <p:pic>
        <p:nvPicPr>
          <p:cNvPr id="12" name="Picture 11">
            <a:extLst>
              <a:ext uri="{FF2B5EF4-FFF2-40B4-BE49-F238E27FC236}">
                <a16:creationId xmlns:a16="http://schemas.microsoft.com/office/drawing/2014/main" id="{31F3489B-8C0B-1F11-FEF0-881D248FAD0A}"/>
              </a:ext>
            </a:extLst>
          </p:cNvPr>
          <p:cNvPicPr>
            <a:picLocks noChangeAspect="1"/>
          </p:cNvPicPr>
          <p:nvPr/>
        </p:nvPicPr>
        <p:blipFill>
          <a:blip r:embed="rId6"/>
          <a:stretch>
            <a:fillRect/>
          </a:stretch>
        </p:blipFill>
        <p:spPr>
          <a:xfrm>
            <a:off x="5291475" y="2246813"/>
            <a:ext cx="11304295" cy="6117043"/>
          </a:xfrm>
          <a:prstGeom prst="rect">
            <a:avLst/>
          </a:prstGeom>
        </p:spPr>
      </p:pic>
    </p:spTree>
    <p:extLst>
      <p:ext uri="{BB962C8B-B14F-4D97-AF65-F5344CB8AC3E}">
        <p14:creationId xmlns:p14="http://schemas.microsoft.com/office/powerpoint/2010/main" val="191051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0"/>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0">
            <a:extLst>
              <a:ext uri="{FF2B5EF4-FFF2-40B4-BE49-F238E27FC236}">
                <a16:creationId xmlns:a16="http://schemas.microsoft.com/office/drawing/2014/main" id="{01E81E43-4778-1ECF-2113-1A6889E7715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
        <p:nvSpPr>
          <p:cNvPr id="18" name="TextBox 10">
            <a:extLst>
              <a:ext uri="{FF2B5EF4-FFF2-40B4-BE49-F238E27FC236}">
                <a16:creationId xmlns:a16="http://schemas.microsoft.com/office/drawing/2014/main" id="{5114BE0D-E60B-0BE1-C501-DB0097BF6094}"/>
              </a:ext>
            </a:extLst>
          </p:cNvPr>
          <p:cNvSpPr txBox="1"/>
          <p:nvPr/>
        </p:nvSpPr>
        <p:spPr>
          <a:xfrm>
            <a:off x="1462422" y="3909604"/>
            <a:ext cx="4098257" cy="2467791"/>
          </a:xfrm>
          <a:prstGeom prst="rect">
            <a:avLst/>
          </a:prstGeom>
        </p:spPr>
        <p:txBody>
          <a:bodyPr wrap="square" lIns="0" tIns="0" rIns="0" bIns="0" rtlCol="0" anchor="t">
            <a:spAutoFit/>
          </a:bodyPr>
          <a:lstStyle/>
          <a:p>
            <a:pPr algn="ctr">
              <a:lnSpc>
                <a:spcPts val="6580"/>
              </a:lnSpc>
              <a:spcBef>
                <a:spcPct val="0"/>
              </a:spcBef>
            </a:pPr>
            <a:r>
              <a:rPr lang="en-US" sz="4700" b="1" dirty="0">
                <a:solidFill>
                  <a:srgbClr val="272139"/>
                </a:solidFill>
                <a:latin typeface="Rosario Bold"/>
                <a:ea typeface="Rosario Bold"/>
                <a:cs typeface="Rosario Bold"/>
                <a:sym typeface="Rosario Bold"/>
              </a:rPr>
              <a:t>Level 1</a:t>
            </a:r>
          </a:p>
          <a:p>
            <a:pPr algn="ctr">
              <a:lnSpc>
                <a:spcPts val="6580"/>
              </a:lnSpc>
              <a:spcBef>
                <a:spcPct val="0"/>
              </a:spcBef>
            </a:pPr>
            <a:r>
              <a:rPr lang="en-US" sz="4700" b="1" dirty="0">
                <a:solidFill>
                  <a:srgbClr val="272139"/>
                </a:solidFill>
                <a:latin typeface="Rosario Bold"/>
                <a:ea typeface="Rosario Bold"/>
                <a:cs typeface="Rosario Bold"/>
                <a:sym typeface="Rosario Bold"/>
              </a:rPr>
              <a:t> Data Flow Diagram</a:t>
            </a:r>
          </a:p>
        </p:txBody>
      </p:sp>
      <p:pic>
        <p:nvPicPr>
          <p:cNvPr id="13" name="Picture 12">
            <a:extLst>
              <a:ext uri="{FF2B5EF4-FFF2-40B4-BE49-F238E27FC236}">
                <a16:creationId xmlns:a16="http://schemas.microsoft.com/office/drawing/2014/main" id="{A48BA51B-8C53-470F-79BC-52E976AFE743}"/>
              </a:ext>
            </a:extLst>
          </p:cNvPr>
          <p:cNvPicPr>
            <a:picLocks noChangeAspect="1"/>
          </p:cNvPicPr>
          <p:nvPr/>
        </p:nvPicPr>
        <p:blipFill>
          <a:blip r:embed="rId6"/>
          <a:stretch>
            <a:fillRect/>
          </a:stretch>
        </p:blipFill>
        <p:spPr>
          <a:xfrm>
            <a:off x="5352143" y="1462421"/>
            <a:ext cx="11067143" cy="7867295"/>
          </a:xfrm>
          <a:prstGeom prst="rect">
            <a:avLst/>
          </a:prstGeom>
        </p:spPr>
      </p:pic>
    </p:spTree>
    <p:extLst>
      <p:ext uri="{BB962C8B-B14F-4D97-AF65-F5344CB8AC3E}">
        <p14:creationId xmlns:p14="http://schemas.microsoft.com/office/powerpoint/2010/main" val="341983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16825578" y="736215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7259300" y="6820365"/>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0" y="0"/>
            <a:ext cx="1462422" cy="2924844"/>
          </a:xfrm>
          <a:custGeom>
            <a:avLst/>
            <a:gdLst/>
            <a:ahLst/>
            <a:cxnLst/>
            <a:rect l="l" t="t" r="r" b="b"/>
            <a:pathLst>
              <a:path w="1462422" h="2924844">
                <a:moveTo>
                  <a:pt x="1462422" y="0"/>
                </a:moveTo>
                <a:lnTo>
                  <a:pt x="0" y="0"/>
                </a:lnTo>
                <a:lnTo>
                  <a:pt x="0" y="2924844"/>
                </a:lnTo>
                <a:lnTo>
                  <a:pt x="1462422" y="2924844"/>
                </a:lnTo>
                <a:lnTo>
                  <a:pt x="1462422"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975513" y="1462422"/>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62644"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0">
            <a:extLst>
              <a:ext uri="{FF2B5EF4-FFF2-40B4-BE49-F238E27FC236}">
                <a16:creationId xmlns:a16="http://schemas.microsoft.com/office/drawing/2014/main" id="{01E81E43-4778-1ECF-2113-1A6889E7715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
        <p:nvSpPr>
          <p:cNvPr id="18" name="TextBox 10">
            <a:extLst>
              <a:ext uri="{FF2B5EF4-FFF2-40B4-BE49-F238E27FC236}">
                <a16:creationId xmlns:a16="http://schemas.microsoft.com/office/drawing/2014/main" id="{5114BE0D-E60B-0BE1-C501-DB0097BF6094}"/>
              </a:ext>
            </a:extLst>
          </p:cNvPr>
          <p:cNvSpPr txBox="1"/>
          <p:nvPr/>
        </p:nvSpPr>
        <p:spPr>
          <a:xfrm>
            <a:off x="1462422" y="3909604"/>
            <a:ext cx="4098257" cy="1621406"/>
          </a:xfrm>
          <a:prstGeom prst="rect">
            <a:avLst/>
          </a:prstGeom>
        </p:spPr>
        <p:txBody>
          <a:bodyPr wrap="square" lIns="0" tIns="0" rIns="0" bIns="0" rtlCol="0" anchor="t">
            <a:spAutoFit/>
          </a:bodyPr>
          <a:lstStyle/>
          <a:p>
            <a:pPr algn="ctr">
              <a:lnSpc>
                <a:spcPts val="6580"/>
              </a:lnSpc>
              <a:spcBef>
                <a:spcPct val="0"/>
              </a:spcBef>
            </a:pPr>
            <a:r>
              <a:rPr lang="en-US" sz="4700" b="1" dirty="0">
                <a:solidFill>
                  <a:srgbClr val="272139"/>
                </a:solidFill>
                <a:latin typeface="Rosario Bold"/>
                <a:ea typeface="Rosario Bold"/>
                <a:cs typeface="Rosario Bold"/>
                <a:sym typeface="Rosario Bold"/>
              </a:rPr>
              <a:t>Process Flow Diagram</a:t>
            </a:r>
          </a:p>
        </p:txBody>
      </p:sp>
      <p:pic>
        <p:nvPicPr>
          <p:cNvPr id="13" name="Picture 12">
            <a:extLst>
              <a:ext uri="{FF2B5EF4-FFF2-40B4-BE49-F238E27FC236}">
                <a16:creationId xmlns:a16="http://schemas.microsoft.com/office/drawing/2014/main" id="{196040F6-140E-3AE5-D324-2987C5A1A7CA}"/>
              </a:ext>
            </a:extLst>
          </p:cNvPr>
          <p:cNvPicPr>
            <a:picLocks noChangeAspect="1"/>
          </p:cNvPicPr>
          <p:nvPr/>
        </p:nvPicPr>
        <p:blipFill>
          <a:blip r:embed="rId6"/>
          <a:stretch>
            <a:fillRect/>
          </a:stretch>
        </p:blipFill>
        <p:spPr>
          <a:xfrm>
            <a:off x="5903624" y="1738743"/>
            <a:ext cx="10606376" cy="7962409"/>
          </a:xfrm>
          <a:prstGeom prst="rect">
            <a:avLst/>
          </a:prstGeom>
        </p:spPr>
      </p:pic>
    </p:spTree>
    <p:extLst>
      <p:ext uri="{BB962C8B-B14F-4D97-AF65-F5344CB8AC3E}">
        <p14:creationId xmlns:p14="http://schemas.microsoft.com/office/powerpoint/2010/main" val="32714644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V="1">
            <a:off x="-369692" y="-530258"/>
            <a:ext cx="2796783" cy="2806991"/>
          </a:xfrm>
          <a:custGeom>
            <a:avLst/>
            <a:gdLst/>
            <a:ahLst/>
            <a:cxnLst/>
            <a:rect l="l" t="t" r="r" b="b"/>
            <a:pathLst>
              <a:path w="2796783" h="2806991">
                <a:moveTo>
                  <a:pt x="0" y="2806991"/>
                </a:moveTo>
                <a:lnTo>
                  <a:pt x="2796784" y="2806991"/>
                </a:lnTo>
                <a:lnTo>
                  <a:pt x="2796784" y="0"/>
                </a:lnTo>
                <a:lnTo>
                  <a:pt x="0" y="0"/>
                </a:lnTo>
                <a:lnTo>
                  <a:pt x="0" y="280699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860908" y="7986753"/>
            <a:ext cx="2796783" cy="2806991"/>
          </a:xfrm>
          <a:custGeom>
            <a:avLst/>
            <a:gdLst/>
            <a:ahLst/>
            <a:cxnLst/>
            <a:rect l="l" t="t" r="r" b="b"/>
            <a:pathLst>
              <a:path w="2796783" h="2806991">
                <a:moveTo>
                  <a:pt x="2796784" y="0"/>
                </a:moveTo>
                <a:lnTo>
                  <a:pt x="0" y="0"/>
                </a:lnTo>
                <a:lnTo>
                  <a:pt x="0" y="2806991"/>
                </a:lnTo>
                <a:lnTo>
                  <a:pt x="2796784" y="2806991"/>
                </a:lnTo>
                <a:lnTo>
                  <a:pt x="279678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92152" y="-530258"/>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88149" y="8789531"/>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592152" y="8789531"/>
            <a:ext cx="2982688" cy="885704"/>
          </a:xfrm>
          <a:custGeom>
            <a:avLst/>
            <a:gdLst/>
            <a:ahLst/>
            <a:cxnLst/>
            <a:rect l="l" t="t" r="r" b="b"/>
            <a:pathLst>
              <a:path w="2982688" h="885704">
                <a:moveTo>
                  <a:pt x="0" y="0"/>
                </a:moveTo>
                <a:lnTo>
                  <a:pt x="2982688" y="0"/>
                </a:lnTo>
                <a:lnTo>
                  <a:pt x="2982688" y="885705"/>
                </a:lnTo>
                <a:lnTo>
                  <a:pt x="0" y="8857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0" y="3754427"/>
            <a:ext cx="18288000" cy="2752228"/>
          </a:xfrm>
          <a:prstGeom prst="rect">
            <a:avLst/>
          </a:prstGeom>
        </p:spPr>
        <p:txBody>
          <a:bodyPr lIns="0" tIns="0" rIns="0" bIns="0" rtlCol="0" anchor="t">
            <a:spAutoFit/>
          </a:bodyPr>
          <a:lstStyle/>
          <a:p>
            <a:pPr algn="ctr">
              <a:lnSpc>
                <a:spcPts val="11200"/>
              </a:lnSpc>
            </a:pPr>
            <a:r>
              <a:rPr lang="en-US" sz="8000" b="1" dirty="0">
                <a:solidFill>
                  <a:srgbClr val="272139"/>
                </a:solidFill>
                <a:latin typeface="Rosario Bold"/>
                <a:ea typeface="Rosario Bold"/>
                <a:cs typeface="Rosario Bold"/>
                <a:sym typeface="Rosario Bold"/>
              </a:rPr>
              <a:t>CHAPTER 4:</a:t>
            </a:r>
          </a:p>
          <a:p>
            <a:pPr algn="ctr">
              <a:lnSpc>
                <a:spcPts val="11200"/>
              </a:lnSpc>
              <a:spcBef>
                <a:spcPct val="0"/>
              </a:spcBef>
            </a:pPr>
            <a:r>
              <a:rPr lang="en-US" sz="8000" b="1" dirty="0">
                <a:solidFill>
                  <a:srgbClr val="272139"/>
                </a:solidFill>
                <a:latin typeface="Rosario Bold"/>
                <a:ea typeface="Rosario Bold"/>
                <a:cs typeface="Rosario Bold"/>
                <a:sym typeface="Rosario Bold"/>
              </a:rPr>
              <a:t>RESULTS AND DISCUSSIONS</a:t>
            </a:r>
          </a:p>
        </p:txBody>
      </p:sp>
      <p:sp>
        <p:nvSpPr>
          <p:cNvPr id="11" name="TextBox 10">
            <a:extLst>
              <a:ext uri="{FF2B5EF4-FFF2-40B4-BE49-F238E27FC236}">
                <a16:creationId xmlns:a16="http://schemas.microsoft.com/office/drawing/2014/main" id="{746F9868-BE0C-8315-991E-7C24C3FED422}"/>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5912840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613377" y="-374795"/>
            <a:ext cx="2796783" cy="2806991"/>
          </a:xfrm>
          <a:custGeom>
            <a:avLst/>
            <a:gdLst/>
            <a:ahLst/>
            <a:cxnLst/>
            <a:rect l="l" t="t" r="r" b="b"/>
            <a:pathLst>
              <a:path w="2796783" h="2806991">
                <a:moveTo>
                  <a:pt x="0" y="0"/>
                </a:moveTo>
                <a:lnTo>
                  <a:pt x="2796783" y="0"/>
                </a:lnTo>
                <a:lnTo>
                  <a:pt x="2796783" y="2806990"/>
                </a:lnTo>
                <a:lnTo>
                  <a:pt x="0" y="28069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623125" y="-181397"/>
            <a:ext cx="2406993" cy="2420194"/>
          </a:xfrm>
          <a:custGeom>
            <a:avLst/>
            <a:gdLst/>
            <a:ahLst/>
            <a:cxnLst/>
            <a:rect l="l" t="t" r="r" b="b"/>
            <a:pathLst>
              <a:path w="2406993" h="2420194">
                <a:moveTo>
                  <a:pt x="2406994" y="0"/>
                </a:moveTo>
                <a:lnTo>
                  <a:pt x="0" y="0"/>
                </a:lnTo>
                <a:lnTo>
                  <a:pt x="0" y="2420194"/>
                </a:lnTo>
                <a:lnTo>
                  <a:pt x="2406994" y="2420194"/>
                </a:lnTo>
                <a:lnTo>
                  <a:pt x="2406994"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0800000">
            <a:off x="16030112" y="7854805"/>
            <a:ext cx="2796783" cy="2806991"/>
          </a:xfrm>
          <a:custGeom>
            <a:avLst/>
            <a:gdLst/>
            <a:ahLst/>
            <a:cxnLst/>
            <a:rect l="l" t="t" r="r" b="b"/>
            <a:pathLst>
              <a:path w="2796783" h="2806991">
                <a:moveTo>
                  <a:pt x="0" y="0"/>
                </a:moveTo>
                <a:lnTo>
                  <a:pt x="2796783" y="0"/>
                </a:lnTo>
                <a:lnTo>
                  <a:pt x="2796783" y="2806990"/>
                </a:lnTo>
                <a:lnTo>
                  <a:pt x="0" y="28069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flipH="1">
            <a:off x="14183400" y="8048203"/>
            <a:ext cx="2406993" cy="2420194"/>
          </a:xfrm>
          <a:custGeom>
            <a:avLst/>
            <a:gdLst/>
            <a:ahLst/>
            <a:cxnLst/>
            <a:rect l="l" t="t" r="r" b="b"/>
            <a:pathLst>
              <a:path w="2406993" h="2420194">
                <a:moveTo>
                  <a:pt x="2406993" y="0"/>
                </a:moveTo>
                <a:lnTo>
                  <a:pt x="0" y="0"/>
                </a:lnTo>
                <a:lnTo>
                  <a:pt x="0" y="2420194"/>
                </a:lnTo>
                <a:lnTo>
                  <a:pt x="2406993" y="2420194"/>
                </a:lnTo>
                <a:lnTo>
                  <a:pt x="2406993"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979684" y="4485531"/>
            <a:ext cx="8328632" cy="1315938"/>
          </a:xfrm>
          <a:prstGeom prst="rect">
            <a:avLst/>
          </a:prstGeom>
        </p:spPr>
        <p:txBody>
          <a:bodyPr wrap="square" lIns="0" tIns="0" rIns="0" bIns="0" rtlCol="0" anchor="t">
            <a:spAutoFit/>
          </a:bodyPr>
          <a:lstStyle/>
          <a:p>
            <a:pPr algn="ctr">
              <a:lnSpc>
                <a:spcPts val="11200"/>
              </a:lnSpc>
              <a:spcBef>
                <a:spcPct val="0"/>
              </a:spcBef>
            </a:pPr>
            <a:r>
              <a:rPr lang="en-US" sz="8000" b="1" dirty="0">
                <a:solidFill>
                  <a:srgbClr val="272139"/>
                </a:solidFill>
                <a:latin typeface="Rosario Bold"/>
                <a:ea typeface="Rosario Bold"/>
                <a:cs typeface="Rosario Bold"/>
                <a:sym typeface="Rosario Bold"/>
              </a:rPr>
              <a:t>SURVEY RESULTS</a:t>
            </a:r>
          </a:p>
        </p:txBody>
      </p:sp>
      <p:sp>
        <p:nvSpPr>
          <p:cNvPr id="11" name="TextBox 10">
            <a:extLst>
              <a:ext uri="{FF2B5EF4-FFF2-40B4-BE49-F238E27FC236}">
                <a16:creationId xmlns:a16="http://schemas.microsoft.com/office/drawing/2014/main" id="{53FFFABC-53B3-019F-4C88-97852636388A}"/>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1238352"/>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Q1:The system is easy to use.  </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8491" y="4057924"/>
            <a:ext cx="15871018" cy="2946518"/>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1238352"/>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Q2: The system interface is understandable.</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E7DDE3F9-73A3-BFFD-791D-C47591001D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8816" y="6074419"/>
            <a:ext cx="15750368" cy="934343"/>
          </a:xfrm>
          <a:prstGeom prst="rect">
            <a:avLst/>
          </a:prstGeom>
        </p:spPr>
      </p:pic>
    </p:spTree>
    <p:extLst>
      <p:ext uri="{BB962C8B-B14F-4D97-AF65-F5344CB8AC3E}">
        <p14:creationId xmlns:p14="http://schemas.microsoft.com/office/powerpoint/2010/main" val="36142852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Q3: The navigation of the system is simple and user-friendly.</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9" name="Picture 8">
            <a:extLst>
              <a:ext uri="{FF2B5EF4-FFF2-40B4-BE49-F238E27FC236}">
                <a16:creationId xmlns:a16="http://schemas.microsoft.com/office/drawing/2014/main" id="{7FE5DD5B-38C8-8B36-CC49-221D1CB407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7505" y="6024140"/>
            <a:ext cx="15752989" cy="1535249"/>
          </a:xfrm>
          <a:prstGeom prst="rect">
            <a:avLst/>
          </a:prstGeom>
        </p:spPr>
      </p:pic>
    </p:spTree>
    <p:extLst>
      <p:ext uri="{BB962C8B-B14F-4D97-AF65-F5344CB8AC3E}">
        <p14:creationId xmlns:p14="http://schemas.microsoft.com/office/powerpoint/2010/main" val="34456846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1238352"/>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Q4: The system responds quickly during use.</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74D5BAD7-9585-62B0-31AF-CBDE616779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8491" y="5934043"/>
            <a:ext cx="15821416" cy="1005599"/>
          </a:xfrm>
          <a:prstGeom prst="rect">
            <a:avLst/>
          </a:prstGeom>
        </p:spPr>
      </p:pic>
    </p:spTree>
    <p:extLst>
      <p:ext uri="{BB962C8B-B14F-4D97-AF65-F5344CB8AC3E}">
        <p14:creationId xmlns:p14="http://schemas.microsoft.com/office/powerpoint/2010/main" val="24807917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1238352"/>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Q5: The system processes data accurately.</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6D9F6B0C-D8E5-40EB-A4BB-CFC223E950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08491" y="5964599"/>
            <a:ext cx="15762534" cy="1001856"/>
          </a:xfrm>
          <a:prstGeom prst="rect">
            <a:avLst/>
          </a:prstGeom>
        </p:spPr>
      </p:pic>
    </p:spTree>
    <p:extLst>
      <p:ext uri="{BB962C8B-B14F-4D97-AF65-F5344CB8AC3E}">
        <p14:creationId xmlns:p14="http://schemas.microsoft.com/office/powerpoint/2010/main" val="15053332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Q6: The system successfully generates prediction results.  </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F93320A3-D8D6-6DC4-34F7-12BBB5BD37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2725" y="6058735"/>
            <a:ext cx="15762550" cy="1001857"/>
          </a:xfrm>
          <a:prstGeom prst="rect">
            <a:avLst/>
          </a:prstGeom>
        </p:spPr>
      </p:pic>
    </p:spTree>
    <p:extLst>
      <p:ext uri="{BB962C8B-B14F-4D97-AF65-F5344CB8AC3E}">
        <p14:creationId xmlns:p14="http://schemas.microsoft.com/office/powerpoint/2010/main" val="13507767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Q7: The features of the system function properly.  </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7C3FCECC-74FD-9C87-2FA8-43C30EA450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44770" y="6059816"/>
            <a:ext cx="15834739" cy="1482401"/>
          </a:xfrm>
          <a:prstGeom prst="rect">
            <a:avLst/>
          </a:prstGeom>
        </p:spPr>
      </p:pic>
    </p:spTree>
    <p:extLst>
      <p:ext uri="{BB962C8B-B14F-4D97-AF65-F5344CB8AC3E}">
        <p14:creationId xmlns:p14="http://schemas.microsoft.com/office/powerpoint/2010/main" val="40982863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Q8: The prediction results are easy to understand.   </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82E13556-1560-DB7A-C4C7-9745B7CD7D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5086" y="5931322"/>
            <a:ext cx="15757827" cy="1602490"/>
          </a:xfrm>
          <a:prstGeom prst="rect">
            <a:avLst/>
          </a:prstGeom>
        </p:spPr>
      </p:pic>
    </p:spTree>
    <p:extLst>
      <p:ext uri="{BB962C8B-B14F-4D97-AF65-F5344CB8AC3E}">
        <p14:creationId xmlns:p14="http://schemas.microsoft.com/office/powerpoint/2010/main" val="17687504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Q9: The system helps assess examination readiness.</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79169CD1-B824-D5EA-49C8-5A854BAD20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09448" y="5973501"/>
            <a:ext cx="15669103" cy="1066833"/>
          </a:xfrm>
          <a:prstGeom prst="rect">
            <a:avLst/>
          </a:prstGeom>
        </p:spPr>
      </p:pic>
    </p:spTree>
    <p:extLst>
      <p:ext uri="{BB962C8B-B14F-4D97-AF65-F5344CB8AC3E}">
        <p14:creationId xmlns:p14="http://schemas.microsoft.com/office/powerpoint/2010/main" val="5487967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H="1">
            <a:off x="428608" y="388576"/>
            <a:ext cx="1786151" cy="1846584"/>
          </a:xfrm>
          <a:custGeom>
            <a:avLst/>
            <a:gdLst/>
            <a:ahLst/>
            <a:cxnLst/>
            <a:rect l="l" t="t" r="r" b="b"/>
            <a:pathLst>
              <a:path w="1786151" h="1846584">
                <a:moveTo>
                  <a:pt x="1786150" y="0"/>
                </a:moveTo>
                <a:lnTo>
                  <a:pt x="0" y="0"/>
                </a:lnTo>
                <a:lnTo>
                  <a:pt x="0" y="1846584"/>
                </a:lnTo>
                <a:lnTo>
                  <a:pt x="1786150" y="1846584"/>
                </a:lnTo>
                <a:lnTo>
                  <a:pt x="178615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6043220" y="7952615"/>
            <a:ext cx="1786151" cy="1846584"/>
          </a:xfrm>
          <a:custGeom>
            <a:avLst/>
            <a:gdLst/>
            <a:ahLst/>
            <a:cxnLst/>
            <a:rect l="l" t="t" r="r" b="b"/>
            <a:pathLst>
              <a:path w="1786151" h="1846584">
                <a:moveTo>
                  <a:pt x="0" y="1846585"/>
                </a:moveTo>
                <a:lnTo>
                  <a:pt x="1786151" y="1846585"/>
                </a:lnTo>
                <a:lnTo>
                  <a:pt x="1786151" y="0"/>
                </a:lnTo>
                <a:lnTo>
                  <a:pt x="0" y="0"/>
                </a:lnTo>
                <a:lnTo>
                  <a:pt x="0" y="1846585"/>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a:off x="731211" y="8144696"/>
            <a:ext cx="1462422" cy="2924844"/>
          </a:xfrm>
          <a:custGeom>
            <a:avLst/>
            <a:gdLst/>
            <a:ahLst/>
            <a:cxnLst/>
            <a:rect l="l" t="t" r="r" b="b"/>
            <a:pathLst>
              <a:path w="1462422" h="2924844">
                <a:moveTo>
                  <a:pt x="1462422" y="0"/>
                </a:moveTo>
                <a:lnTo>
                  <a:pt x="0" y="0"/>
                </a:lnTo>
                <a:lnTo>
                  <a:pt x="0" y="2924845"/>
                </a:lnTo>
                <a:lnTo>
                  <a:pt x="1462422" y="2924845"/>
                </a:lnTo>
                <a:lnTo>
                  <a:pt x="1462422"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66099" y="933936"/>
            <a:ext cx="1462422" cy="2924844"/>
          </a:xfrm>
          <a:custGeom>
            <a:avLst/>
            <a:gdLst/>
            <a:ahLst/>
            <a:cxnLst/>
            <a:rect l="l" t="t" r="r" b="b"/>
            <a:pathLst>
              <a:path w="1462422" h="2924844">
                <a:moveTo>
                  <a:pt x="0" y="0"/>
                </a:moveTo>
                <a:lnTo>
                  <a:pt x="1462422" y="0"/>
                </a:lnTo>
                <a:lnTo>
                  <a:pt x="1462422" y="2924844"/>
                </a:lnTo>
                <a:lnTo>
                  <a:pt x="0" y="292484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538002" y="1409786"/>
            <a:ext cx="13211996" cy="2674643"/>
          </a:xfrm>
          <a:prstGeom prst="rect">
            <a:avLst/>
          </a:prstGeom>
        </p:spPr>
        <p:txBody>
          <a:bodyPr wrap="square" lIns="0" tIns="0" rIns="0" bIns="0" rtlCol="0" anchor="t">
            <a:spAutoFit/>
          </a:bodyPr>
          <a:lstStyle/>
          <a:p>
            <a:pPr algn="ctr">
              <a:lnSpc>
                <a:spcPts val="11200"/>
              </a:lnSpc>
              <a:spcBef>
                <a:spcPct val="0"/>
              </a:spcBef>
            </a:pPr>
            <a:r>
              <a:rPr lang="en-US" sz="5400" b="1" dirty="0">
                <a:solidFill>
                  <a:srgbClr val="272139"/>
                </a:solidFill>
                <a:latin typeface="Rosario Bold"/>
                <a:ea typeface="Rosario Bold"/>
                <a:cs typeface="Rosario Bold"/>
                <a:sym typeface="Rosario Bold"/>
              </a:rPr>
              <a:t>Q10: The system is beneficial for students preparing for the MSU-SASE.</a:t>
            </a:r>
          </a:p>
        </p:txBody>
      </p:sp>
      <p:pic>
        <p:nvPicPr>
          <p:cNvPr id="11" name="Picture 10">
            <a:extLst>
              <a:ext uri="{FF2B5EF4-FFF2-40B4-BE49-F238E27FC236}">
                <a16:creationId xmlns:a16="http://schemas.microsoft.com/office/drawing/2014/main" id="{3D1D1712-564E-B150-AD10-705B7ABFFB9F}"/>
              </a:ext>
            </a:extLst>
          </p:cNvPr>
          <p:cNvPicPr>
            <a:picLocks noChangeAspect="1"/>
          </p:cNvPicPr>
          <p:nvPr/>
        </p:nvPicPr>
        <p:blipFill>
          <a:blip r:embed="rId5">
            <a:extLst>
              <a:ext uri="{28A0092B-C50C-407E-A947-70E740481C1C}">
                <a14:useLocalDpi xmlns:a14="http://schemas.microsoft.com/office/drawing/2010/main" val="0"/>
              </a:ext>
            </a:extLst>
          </a:blip>
          <a:srcRect b="28368"/>
          <a:stretch>
            <a:fillRect/>
          </a:stretch>
        </p:blipFill>
        <p:spPr>
          <a:xfrm>
            <a:off x="1208491" y="4057924"/>
            <a:ext cx="15871018" cy="2110647"/>
          </a:xfrm>
          <a:prstGeom prst="rect">
            <a:avLst/>
          </a:prstGeom>
        </p:spPr>
      </p:pic>
      <p:sp>
        <p:nvSpPr>
          <p:cNvPr id="13" name="TextBox 12">
            <a:extLst>
              <a:ext uri="{FF2B5EF4-FFF2-40B4-BE49-F238E27FC236}">
                <a16:creationId xmlns:a16="http://schemas.microsoft.com/office/drawing/2014/main" id="{058AF522-82B9-BAE8-46E5-523F120ED5E3}"/>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pic>
        <p:nvPicPr>
          <p:cNvPr id="8" name="Picture 7">
            <a:extLst>
              <a:ext uri="{FF2B5EF4-FFF2-40B4-BE49-F238E27FC236}">
                <a16:creationId xmlns:a16="http://schemas.microsoft.com/office/drawing/2014/main" id="{248E60EE-D4AF-EF54-A40E-42F967AED7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78687" y="6022308"/>
            <a:ext cx="15657608" cy="1525953"/>
          </a:xfrm>
          <a:prstGeom prst="rect">
            <a:avLst/>
          </a:prstGeom>
        </p:spPr>
      </p:pic>
    </p:spTree>
    <p:extLst>
      <p:ext uri="{BB962C8B-B14F-4D97-AF65-F5344CB8AC3E}">
        <p14:creationId xmlns:p14="http://schemas.microsoft.com/office/powerpoint/2010/main" val="11639894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txBody>
          <a:bodyPr/>
          <a:lstStyle/>
          <a:p>
            <a:endParaRPr lang="en-US" dirty="0"/>
          </a:p>
        </p:txBody>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5392964" y="581785"/>
            <a:ext cx="7502072" cy="1220462"/>
          </a:xfrm>
          <a:prstGeom prst="rect">
            <a:avLst/>
          </a:prstGeom>
        </p:spPr>
        <p:txBody>
          <a:bodyPr wrap="square" lIns="0" tIns="0" rIns="0" bIns="0" rtlCol="0" anchor="t">
            <a:spAutoFit/>
          </a:bodyPr>
          <a:lstStyle/>
          <a:p>
            <a:pPr algn="ctr">
              <a:lnSpc>
                <a:spcPts val="11200"/>
              </a:lnSpc>
              <a:spcBef>
                <a:spcPct val="0"/>
              </a:spcBef>
            </a:pPr>
            <a:r>
              <a:rPr lang="en-US" sz="4800" b="1" dirty="0">
                <a:solidFill>
                  <a:srgbClr val="272139"/>
                </a:solidFill>
                <a:latin typeface="Rosario Bold"/>
                <a:ea typeface="Rosario Bold"/>
                <a:cs typeface="Rosario Bold"/>
                <a:sym typeface="Rosario Bold"/>
              </a:rPr>
              <a:t>Graphical User Interface</a:t>
            </a:r>
          </a:p>
        </p:txBody>
      </p:sp>
      <p:sp>
        <p:nvSpPr>
          <p:cNvPr id="10" name="TextBox 9">
            <a:extLst>
              <a:ext uri="{FF2B5EF4-FFF2-40B4-BE49-F238E27FC236}">
                <a16:creationId xmlns:a16="http://schemas.microsoft.com/office/drawing/2014/main" id="{52BC9755-DE65-8DAF-A221-646BBE307D7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flipV="1">
            <a:off x="-369692" y="-530258"/>
            <a:ext cx="2796783" cy="2806991"/>
          </a:xfrm>
          <a:custGeom>
            <a:avLst/>
            <a:gdLst/>
            <a:ahLst/>
            <a:cxnLst/>
            <a:rect l="l" t="t" r="r" b="b"/>
            <a:pathLst>
              <a:path w="2796783" h="2806991">
                <a:moveTo>
                  <a:pt x="0" y="2806991"/>
                </a:moveTo>
                <a:lnTo>
                  <a:pt x="2796784" y="2806991"/>
                </a:lnTo>
                <a:lnTo>
                  <a:pt x="2796784" y="0"/>
                </a:lnTo>
                <a:lnTo>
                  <a:pt x="0" y="0"/>
                </a:lnTo>
                <a:lnTo>
                  <a:pt x="0" y="2806991"/>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5860908" y="7986753"/>
            <a:ext cx="2796783" cy="2806991"/>
          </a:xfrm>
          <a:custGeom>
            <a:avLst/>
            <a:gdLst/>
            <a:ahLst/>
            <a:cxnLst/>
            <a:rect l="l" t="t" r="r" b="b"/>
            <a:pathLst>
              <a:path w="2796783" h="2806991">
                <a:moveTo>
                  <a:pt x="2796784" y="0"/>
                </a:moveTo>
                <a:lnTo>
                  <a:pt x="0" y="0"/>
                </a:lnTo>
                <a:lnTo>
                  <a:pt x="0" y="2806991"/>
                </a:lnTo>
                <a:lnTo>
                  <a:pt x="2796784" y="2806991"/>
                </a:lnTo>
                <a:lnTo>
                  <a:pt x="279678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92152" y="-530258"/>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888149" y="8789531"/>
            <a:ext cx="2004213" cy="2004213"/>
          </a:xfrm>
          <a:custGeom>
            <a:avLst/>
            <a:gdLst/>
            <a:ahLst/>
            <a:cxnLst/>
            <a:rect l="l" t="t" r="r" b="b"/>
            <a:pathLst>
              <a:path w="2004213" h="2004213">
                <a:moveTo>
                  <a:pt x="0" y="0"/>
                </a:moveTo>
                <a:lnTo>
                  <a:pt x="2004213" y="0"/>
                </a:lnTo>
                <a:lnTo>
                  <a:pt x="2004213" y="2004213"/>
                </a:lnTo>
                <a:lnTo>
                  <a:pt x="0" y="200421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a:off x="-592152" y="8789531"/>
            <a:ext cx="2982688" cy="885704"/>
          </a:xfrm>
          <a:custGeom>
            <a:avLst/>
            <a:gdLst/>
            <a:ahLst/>
            <a:cxnLst/>
            <a:rect l="l" t="t" r="r" b="b"/>
            <a:pathLst>
              <a:path w="2982688" h="885704">
                <a:moveTo>
                  <a:pt x="0" y="0"/>
                </a:moveTo>
                <a:lnTo>
                  <a:pt x="2982688" y="0"/>
                </a:lnTo>
                <a:lnTo>
                  <a:pt x="2982688" y="885705"/>
                </a:lnTo>
                <a:lnTo>
                  <a:pt x="0" y="8857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0" y="2806991"/>
            <a:ext cx="18288000" cy="4188519"/>
          </a:xfrm>
          <a:prstGeom prst="rect">
            <a:avLst/>
          </a:prstGeom>
        </p:spPr>
        <p:txBody>
          <a:bodyPr lIns="0" tIns="0" rIns="0" bIns="0" rtlCol="0" anchor="t">
            <a:spAutoFit/>
          </a:bodyPr>
          <a:lstStyle/>
          <a:p>
            <a:pPr algn="ctr">
              <a:lnSpc>
                <a:spcPts val="11200"/>
              </a:lnSpc>
            </a:pPr>
            <a:r>
              <a:rPr lang="en-US" sz="8000" b="1" dirty="0">
                <a:solidFill>
                  <a:srgbClr val="272139"/>
                </a:solidFill>
                <a:latin typeface="Rosario Bold"/>
                <a:ea typeface="Rosario Bold"/>
                <a:cs typeface="Rosario Bold"/>
                <a:sym typeface="Rosario Bold"/>
              </a:rPr>
              <a:t>CHAPTER 5:</a:t>
            </a:r>
          </a:p>
          <a:p>
            <a:pPr algn="ctr">
              <a:lnSpc>
                <a:spcPts val="11200"/>
              </a:lnSpc>
            </a:pPr>
            <a:r>
              <a:rPr lang="en-US" sz="8000" b="1" dirty="0">
                <a:solidFill>
                  <a:srgbClr val="272139"/>
                </a:solidFill>
                <a:latin typeface="Rosario Bold"/>
                <a:ea typeface="Rosario Bold"/>
                <a:cs typeface="Rosario Bold"/>
                <a:sym typeface="Rosario Bold"/>
              </a:rPr>
              <a:t>SUMMARY, CONCLUSION AND RECOMMENDATION</a:t>
            </a:r>
          </a:p>
        </p:txBody>
      </p:sp>
      <p:sp>
        <p:nvSpPr>
          <p:cNvPr id="11" name="TextBox 10">
            <a:extLst>
              <a:ext uri="{FF2B5EF4-FFF2-40B4-BE49-F238E27FC236}">
                <a16:creationId xmlns:a16="http://schemas.microsoft.com/office/drawing/2014/main" id="{746F9868-BE0C-8315-991E-7C24C3FED422}"/>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42592532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6017307" y="972407"/>
            <a:ext cx="6253386" cy="1315938"/>
          </a:xfrm>
          <a:prstGeom prst="rect">
            <a:avLst/>
          </a:prstGeom>
        </p:spPr>
        <p:txBody>
          <a:bodyPr lIns="0" tIns="0" rIns="0" bIns="0" rtlCol="0" anchor="t">
            <a:spAutoFit/>
          </a:bodyPr>
          <a:lstStyle/>
          <a:p>
            <a:pPr algn="ctr">
              <a:lnSpc>
                <a:spcPts val="11200"/>
              </a:lnSpc>
              <a:spcBef>
                <a:spcPct val="0"/>
              </a:spcBef>
            </a:pPr>
            <a:r>
              <a:rPr lang="en-US" sz="8000" b="1" dirty="0">
                <a:solidFill>
                  <a:srgbClr val="272139"/>
                </a:solidFill>
                <a:latin typeface="Rosario Bold"/>
                <a:ea typeface="Rosario Bold"/>
                <a:cs typeface="Rosario Bold"/>
                <a:sym typeface="Rosario Bold"/>
              </a:rPr>
              <a:t>SUMMARY</a:t>
            </a:r>
          </a:p>
        </p:txBody>
      </p:sp>
      <p:sp>
        <p:nvSpPr>
          <p:cNvPr id="8" name="TextBox 8"/>
          <p:cNvSpPr txBox="1"/>
          <p:nvPr/>
        </p:nvSpPr>
        <p:spPr>
          <a:xfrm>
            <a:off x="2803869" y="3260752"/>
            <a:ext cx="12680262" cy="3877985"/>
          </a:xfrm>
          <a:prstGeom prst="rect">
            <a:avLst/>
          </a:prstGeom>
        </p:spPr>
        <p:txBody>
          <a:bodyPr lIns="0" tIns="0" rIns="0" bIns="0" rtlCol="0" anchor="t">
            <a:spAutoFit/>
          </a:bodyPr>
          <a:lstStyle/>
          <a:p>
            <a:r>
              <a:rPr lang="en-US" sz="2800"/>
              <a:t>The study developed a Machine Learning-Based SASE Performance Prediction System for Mindanao State University–Maigo College of Education, Science and Technology that helps students assess their possible MSU-SASE performance using Grade 11 and Grade 12 academic records in Mathematics, Science, Language, and Aptitude. The study utilized the Linear Regression algorithm to generate prediction results. The system successfully performed data processing, prediction, and result generation, and users found it easy to use and helpful in identifying strengths and areas for improvement. However, the study was limited by the small dataset and the exclusion of external factors that may also affect student performance.</a:t>
            </a:r>
          </a:p>
        </p:txBody>
      </p:sp>
      <p:sp>
        <p:nvSpPr>
          <p:cNvPr id="10" name="TextBox 9">
            <a:extLst>
              <a:ext uri="{FF2B5EF4-FFF2-40B4-BE49-F238E27FC236}">
                <a16:creationId xmlns:a16="http://schemas.microsoft.com/office/drawing/2014/main" id="{3DF749AB-F84A-40CF-0E1A-14103B76E8E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41500497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6017307" y="972407"/>
            <a:ext cx="6253386" cy="1315938"/>
          </a:xfrm>
          <a:prstGeom prst="rect">
            <a:avLst/>
          </a:prstGeom>
        </p:spPr>
        <p:txBody>
          <a:bodyPr lIns="0" tIns="0" rIns="0" bIns="0" rtlCol="0" anchor="t">
            <a:spAutoFit/>
          </a:bodyPr>
          <a:lstStyle/>
          <a:p>
            <a:pPr algn="ctr">
              <a:lnSpc>
                <a:spcPts val="11200"/>
              </a:lnSpc>
              <a:spcBef>
                <a:spcPct val="0"/>
              </a:spcBef>
            </a:pPr>
            <a:r>
              <a:rPr lang="en-US" sz="8000" b="1" dirty="0">
                <a:solidFill>
                  <a:srgbClr val="272139"/>
                </a:solidFill>
                <a:latin typeface="Rosario Bold"/>
                <a:ea typeface="Rosario Bold"/>
                <a:cs typeface="Rosario Bold"/>
                <a:sym typeface="Rosario Bold"/>
              </a:rPr>
              <a:t>CONCLUSION</a:t>
            </a:r>
          </a:p>
        </p:txBody>
      </p:sp>
      <p:sp>
        <p:nvSpPr>
          <p:cNvPr id="8" name="TextBox 8"/>
          <p:cNvSpPr txBox="1"/>
          <p:nvPr/>
        </p:nvSpPr>
        <p:spPr>
          <a:xfrm>
            <a:off x="2803869" y="3260752"/>
            <a:ext cx="12680262" cy="4459747"/>
          </a:xfrm>
          <a:prstGeom prst="rect">
            <a:avLst/>
          </a:prstGeom>
        </p:spPr>
        <p:txBody>
          <a:bodyPr lIns="0" tIns="0" rIns="0" bIns="0" rtlCol="0" anchor="t">
            <a:spAutoFit/>
          </a:bodyPr>
          <a:lstStyle/>
          <a:p>
            <a:pPr>
              <a:lnSpc>
                <a:spcPts val="3919"/>
              </a:lnSpc>
              <a:spcBef>
                <a:spcPct val="0"/>
              </a:spcBef>
            </a:pPr>
            <a:r>
              <a:rPr lang="en-US" sz="2799" dirty="0">
                <a:solidFill>
                  <a:srgbClr val="272139"/>
                </a:solidFill>
                <a:latin typeface="Rosario"/>
                <a:ea typeface="Rosario"/>
                <a:cs typeface="Rosario"/>
                <a:sym typeface="Rosario"/>
              </a:rPr>
              <a:t>The researchers concluded that the Machine Learning-Based SASE Performance Prediction System successfully provided a data-driven method for estimating students’ potential performance in the MSU System Admission and Scholarship Examination. Using Grade 11 and Grade 12 academic records, the system generated prediction results through the Linear Regression algorithm. The web-based system improved student readiness assessment by offering fast, accessible, and easy-to-understand predictions, making it a useful academic support tool for students, teachers, and academic stakeholders. However, the results remain estimates due to data and variable limitations.</a:t>
            </a:r>
          </a:p>
        </p:txBody>
      </p:sp>
      <p:sp>
        <p:nvSpPr>
          <p:cNvPr id="10" name="TextBox 9">
            <a:extLst>
              <a:ext uri="{FF2B5EF4-FFF2-40B4-BE49-F238E27FC236}">
                <a16:creationId xmlns:a16="http://schemas.microsoft.com/office/drawing/2014/main" id="{3DF749AB-F84A-40CF-0E1A-14103B76E8E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17313242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0" y="7531938"/>
            <a:ext cx="3018502" cy="3085829"/>
          </a:xfrm>
          <a:custGeom>
            <a:avLst/>
            <a:gdLst/>
            <a:ahLst/>
            <a:cxnLst/>
            <a:rect l="l" t="t" r="r" b="b"/>
            <a:pathLst>
              <a:path w="3018502" h="3085829">
                <a:moveTo>
                  <a:pt x="0" y="0"/>
                </a:moveTo>
                <a:lnTo>
                  <a:pt x="3018502" y="0"/>
                </a:lnTo>
                <a:lnTo>
                  <a:pt x="3018502" y="3085829"/>
                </a:lnTo>
                <a:lnTo>
                  <a:pt x="0" y="30858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62644" y="40188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5767956" y="8815448"/>
            <a:ext cx="2982688" cy="885704"/>
          </a:xfrm>
          <a:custGeom>
            <a:avLst/>
            <a:gdLst/>
            <a:ahLst/>
            <a:cxnLst/>
            <a:rect l="l" t="t" r="r" b="b"/>
            <a:pathLst>
              <a:path w="2982688" h="885704">
                <a:moveTo>
                  <a:pt x="0" y="0"/>
                </a:moveTo>
                <a:lnTo>
                  <a:pt x="2982688" y="0"/>
                </a:lnTo>
                <a:lnTo>
                  <a:pt x="2982688" y="885704"/>
                </a:lnTo>
                <a:lnTo>
                  <a:pt x="0" y="88570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179266" y="1157091"/>
            <a:ext cx="9929468" cy="1315938"/>
          </a:xfrm>
          <a:prstGeom prst="rect">
            <a:avLst/>
          </a:prstGeom>
        </p:spPr>
        <p:txBody>
          <a:bodyPr wrap="square" lIns="0" tIns="0" rIns="0" bIns="0" rtlCol="0" anchor="t">
            <a:spAutoFit/>
          </a:bodyPr>
          <a:lstStyle/>
          <a:p>
            <a:pPr algn="ctr">
              <a:lnSpc>
                <a:spcPts val="11200"/>
              </a:lnSpc>
              <a:spcBef>
                <a:spcPct val="0"/>
              </a:spcBef>
            </a:pPr>
            <a:r>
              <a:rPr lang="en-US" sz="8000" b="1" dirty="0">
                <a:solidFill>
                  <a:srgbClr val="272139"/>
                </a:solidFill>
                <a:latin typeface="Rosario Bold"/>
                <a:ea typeface="Rosario Bold"/>
                <a:cs typeface="Rosario Bold"/>
                <a:sym typeface="Rosario Bold"/>
              </a:rPr>
              <a:t>RECOMMENDATION</a:t>
            </a:r>
          </a:p>
        </p:txBody>
      </p:sp>
      <p:sp>
        <p:nvSpPr>
          <p:cNvPr id="8" name="TextBox 8"/>
          <p:cNvSpPr txBox="1"/>
          <p:nvPr/>
        </p:nvSpPr>
        <p:spPr>
          <a:xfrm>
            <a:off x="2803869" y="3260752"/>
            <a:ext cx="12680262" cy="5460021"/>
          </a:xfrm>
          <a:prstGeom prst="rect">
            <a:avLst/>
          </a:prstGeom>
        </p:spPr>
        <p:txBody>
          <a:bodyPr lIns="0" tIns="0" rIns="0" bIns="0" rtlCol="0" anchor="t">
            <a:spAutoFit/>
          </a:bodyPr>
          <a:lstStyle/>
          <a:p>
            <a:pPr>
              <a:lnSpc>
                <a:spcPts val="3919"/>
              </a:lnSpc>
              <a:spcBef>
                <a:spcPct val="0"/>
              </a:spcBef>
            </a:pPr>
            <a:r>
              <a:rPr lang="en-US" sz="2799">
                <a:solidFill>
                  <a:srgbClr val="272139"/>
                </a:solidFill>
                <a:latin typeface="Rosario"/>
                <a:ea typeface="Rosario"/>
                <a:cs typeface="Rosario"/>
                <a:sym typeface="Rosario"/>
              </a:rPr>
              <a:t>The researchers recommend regular system maintenance and updates to ensure accuracy and reliability of the Machine Learning-Based SASE Performance Prediction System. Future studies should expand dataset collection from multiple academic cycles and include additional variables such as socioeconomic status, study habits, learning environment, and psychological factors to improve prediction results. More advanced machine learning models may also be explored to enhance accuracy. The system interface should continue to be improved for better accessibility and user experience, while training and user guidance should be provided to help students and educators properly use the system. Additional features such as personalized study recommendations may also be integrated, and educational institutions are encouraged to adopt the system as part of their academic support services.</a:t>
            </a:r>
            <a:endParaRPr lang="en-US" sz="2799" dirty="0">
              <a:solidFill>
                <a:srgbClr val="272139"/>
              </a:solidFill>
              <a:latin typeface="Rosario"/>
              <a:ea typeface="Rosario"/>
              <a:cs typeface="Rosario"/>
              <a:sym typeface="Rosario"/>
            </a:endParaRPr>
          </a:p>
        </p:txBody>
      </p:sp>
      <p:sp>
        <p:nvSpPr>
          <p:cNvPr id="10" name="TextBox 9">
            <a:extLst>
              <a:ext uri="{FF2B5EF4-FFF2-40B4-BE49-F238E27FC236}">
                <a16:creationId xmlns:a16="http://schemas.microsoft.com/office/drawing/2014/main" id="{3DF749AB-F84A-40CF-0E1A-14103B76E8EE}"/>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extLst>
      <p:ext uri="{BB962C8B-B14F-4D97-AF65-F5344CB8AC3E}">
        <p14:creationId xmlns:p14="http://schemas.microsoft.com/office/powerpoint/2010/main" val="18182963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44" r="-2244"/>
            </a:stretch>
          </a:blipFill>
        </p:spPr>
      </p:sp>
      <p:sp>
        <p:nvSpPr>
          <p:cNvPr id="3" name="Freeform 3"/>
          <p:cNvSpPr/>
          <p:nvPr/>
        </p:nvSpPr>
        <p:spPr>
          <a:xfrm>
            <a:off x="12801947" y="7705224"/>
            <a:ext cx="2771037" cy="2786235"/>
          </a:xfrm>
          <a:custGeom>
            <a:avLst/>
            <a:gdLst/>
            <a:ahLst/>
            <a:cxnLst/>
            <a:rect l="l" t="t" r="r" b="b"/>
            <a:pathLst>
              <a:path w="2771037" h="2786235">
                <a:moveTo>
                  <a:pt x="0" y="0"/>
                </a:moveTo>
                <a:lnTo>
                  <a:pt x="2771038" y="0"/>
                </a:lnTo>
                <a:lnTo>
                  <a:pt x="2771038" y="2786235"/>
                </a:lnTo>
                <a:lnTo>
                  <a:pt x="0" y="278623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4603507" y="7705224"/>
            <a:ext cx="2771037" cy="2786235"/>
          </a:xfrm>
          <a:custGeom>
            <a:avLst/>
            <a:gdLst/>
            <a:ahLst/>
            <a:cxnLst/>
            <a:rect l="l" t="t" r="r" b="b"/>
            <a:pathLst>
              <a:path w="2771037" h="2786235">
                <a:moveTo>
                  <a:pt x="0" y="0"/>
                </a:moveTo>
                <a:lnTo>
                  <a:pt x="2771037" y="0"/>
                </a:lnTo>
                <a:lnTo>
                  <a:pt x="2771037" y="2786235"/>
                </a:lnTo>
                <a:lnTo>
                  <a:pt x="0" y="278623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6405066" y="7705224"/>
            <a:ext cx="2771037" cy="2786235"/>
          </a:xfrm>
          <a:custGeom>
            <a:avLst/>
            <a:gdLst/>
            <a:ahLst/>
            <a:cxnLst/>
            <a:rect l="l" t="t" r="r" b="b"/>
            <a:pathLst>
              <a:path w="2771037" h="2786235">
                <a:moveTo>
                  <a:pt x="0" y="0"/>
                </a:moveTo>
                <a:lnTo>
                  <a:pt x="2771037" y="0"/>
                </a:lnTo>
                <a:lnTo>
                  <a:pt x="2771037" y="2786235"/>
                </a:lnTo>
                <a:lnTo>
                  <a:pt x="0" y="278623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0" y="0"/>
            <a:ext cx="2571750" cy="5143500"/>
          </a:xfrm>
          <a:custGeom>
            <a:avLst/>
            <a:gdLst/>
            <a:ahLst/>
            <a:cxnLst/>
            <a:rect l="l" t="t" r="r" b="b"/>
            <a:pathLst>
              <a:path w="2571750" h="5143500">
                <a:moveTo>
                  <a:pt x="2571750" y="0"/>
                </a:moveTo>
                <a:lnTo>
                  <a:pt x="0" y="0"/>
                </a:lnTo>
                <a:lnTo>
                  <a:pt x="0" y="5143500"/>
                </a:lnTo>
                <a:lnTo>
                  <a:pt x="2571750" y="5143500"/>
                </a:lnTo>
                <a:lnTo>
                  <a:pt x="257175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4385812" y="2773961"/>
            <a:ext cx="9516376" cy="4739079"/>
          </a:xfrm>
          <a:custGeom>
            <a:avLst/>
            <a:gdLst/>
            <a:ahLst/>
            <a:cxnLst/>
            <a:rect l="l" t="t" r="r" b="b"/>
            <a:pathLst>
              <a:path w="9516376" h="4739079">
                <a:moveTo>
                  <a:pt x="0" y="0"/>
                </a:moveTo>
                <a:lnTo>
                  <a:pt x="9516376" y="0"/>
                </a:lnTo>
                <a:lnTo>
                  <a:pt x="9516376" y="4739078"/>
                </a:lnTo>
                <a:lnTo>
                  <a:pt x="0" y="473907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281775" y="3229890"/>
            <a:ext cx="5724451" cy="3827219"/>
          </a:xfrm>
          <a:prstGeom prst="rect">
            <a:avLst/>
          </a:prstGeom>
        </p:spPr>
        <p:txBody>
          <a:bodyPr lIns="0" tIns="0" rIns="0" bIns="0" rtlCol="0" anchor="t">
            <a:spAutoFit/>
          </a:bodyPr>
          <a:lstStyle/>
          <a:p>
            <a:pPr algn="ctr">
              <a:lnSpc>
                <a:spcPts val="15140"/>
              </a:lnSpc>
            </a:pPr>
            <a:r>
              <a:rPr lang="en-US" sz="12616" b="1">
                <a:solidFill>
                  <a:srgbClr val="272139"/>
                </a:solidFill>
                <a:latin typeface="Rosario Bold"/>
                <a:ea typeface="Rosario Bold"/>
                <a:cs typeface="Rosario Bold"/>
                <a:sym typeface="Rosario Bold"/>
              </a:rPr>
              <a:t>THANK YOU</a:t>
            </a:r>
          </a:p>
        </p:txBody>
      </p:sp>
      <p:sp>
        <p:nvSpPr>
          <p:cNvPr id="10" name="TextBox 9">
            <a:extLst>
              <a:ext uri="{FF2B5EF4-FFF2-40B4-BE49-F238E27FC236}">
                <a16:creationId xmlns:a16="http://schemas.microsoft.com/office/drawing/2014/main" id="{573D7357-AD7D-C228-2CA1-64F021F76BF5}"/>
              </a:ext>
            </a:extLst>
          </p:cNvPr>
          <p:cNvSpPr txBox="1"/>
          <p:nvPr/>
        </p:nvSpPr>
        <p:spPr>
          <a:xfrm>
            <a:off x="13701525" y="249577"/>
            <a:ext cx="4287447" cy="657937"/>
          </a:xfrm>
          <a:prstGeom prst="rect">
            <a:avLst/>
          </a:prstGeom>
        </p:spPr>
        <p:txBody>
          <a:bodyPr wrap="square" lIns="0" tIns="0" rIns="0" bIns="0" rtlCol="0" anchor="t">
            <a:spAutoFit/>
          </a:bodyPr>
          <a:lstStyle/>
          <a:p>
            <a:pPr algn="ctr">
              <a:lnSpc>
                <a:spcPts val="5599"/>
              </a:lnSpc>
              <a:spcBef>
                <a:spcPct val="0"/>
              </a:spcBef>
            </a:pPr>
            <a:r>
              <a:rPr lang="en-US" sz="3200" b="1" dirty="0">
                <a:solidFill>
                  <a:srgbClr val="272139"/>
                </a:solidFill>
                <a:latin typeface="Rosario Bold"/>
                <a:ea typeface="Rosario Bold"/>
                <a:cs typeface="Rosario Bold"/>
                <a:sym typeface="Rosario Bold"/>
              </a:rPr>
              <a:t>MSU-MCEST | 2026</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Geometric Minimalist Thesis Defense Presentation</dc:title>
  <cp:lastModifiedBy>humaida ampaso</cp:lastModifiedBy>
  <cp:revision>11</cp:revision>
  <dcterms:created xsi:type="dcterms:W3CDTF">2006-08-16T00:00:00Z</dcterms:created>
  <dcterms:modified xsi:type="dcterms:W3CDTF">2026-05-19T07:25:41Z</dcterms:modified>
  <dc:identifier>DAHInZPRPbs</dc:identifier>
</cp:coreProperties>
</file>